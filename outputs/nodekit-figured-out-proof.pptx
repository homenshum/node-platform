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0ea7a8f3274ddc" /><Relationship Type="http://schemas.openxmlformats.org/officeDocument/2006/relationships/extended-properties" Target="/docProps/app.xml" Id="R74a4ba4ed7bd4e8c" /><Relationship Type="http://schemas.openxmlformats.org/officeDocument/2006/relationships/officeDocument" Target="/ppt/presentation.xml" Id="Rbda058533fe34b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9282e9c83944d8"/>
  </p:sldMasterIdLst>
  <p:notesMasterIdLst>
    <p:notesMasterId xmlns:r="http://schemas.openxmlformats.org/officeDocument/2006/relationships" r:id="R48a240a1ae5b449f"/>
  </p:notesMasterIdLst>
  <p:sldIdLst>
    <p:sldId xmlns:r="http://schemas.openxmlformats.org/officeDocument/2006/relationships" id="256" r:id="R67ddcc4f0b4747d7"/>
    <p:sldId xmlns:r="http://schemas.openxmlformats.org/officeDocument/2006/relationships" id="257" r:id="Ra14a3a5958294c08"/>
    <p:sldId xmlns:r="http://schemas.openxmlformats.org/officeDocument/2006/relationships" id="258" r:id="R7c50cdb8c27c4532"/>
    <p:sldId xmlns:r="http://schemas.openxmlformats.org/officeDocument/2006/relationships" id="259" r:id="R0f8f784d10bf40ca"/>
    <p:sldId xmlns:r="http://schemas.openxmlformats.org/officeDocument/2006/relationships" id="260" r:id="R405992ce3ed6441a"/>
    <p:sldId xmlns:r="http://schemas.openxmlformats.org/officeDocument/2006/relationships" id="261" r:id="Rab1536ab23b54b7b"/>
    <p:sldId xmlns:r="http://schemas.openxmlformats.org/officeDocument/2006/relationships" id="262" r:id="R9432b7b691a546bd"/>
    <p:sldId xmlns:r="http://schemas.openxmlformats.org/officeDocument/2006/relationships" id="263" r:id="Re8321af9b3994511"/>
  </p:sldIdLst>
  <p:sldSz cx="12191695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28f43f36ff40fe" /><Relationship Type="http://schemas.openxmlformats.org/officeDocument/2006/relationships/slideMaster" Target="/ppt/slideMasters/slideMaster1.xml" Id="R4e9282e9c83944d8" /><Relationship Type="http://schemas.openxmlformats.org/officeDocument/2006/relationships/notesMaster" Target="/ppt/notesMasters/notesMaster1.xml" Id="R48a240a1ae5b449f" /><Relationship Type="http://schemas.openxmlformats.org/officeDocument/2006/relationships/presProps" Target="/ppt/presProps.xml" Id="R23cc1874cf8e4c46" /><Relationship Type="http://schemas.openxmlformats.org/officeDocument/2006/relationships/viewProps" Target="/ppt/viewProps.xml" Id="R913f95a130fe4654" /><Relationship Type="http://schemas.openxmlformats.org/officeDocument/2006/relationships/tableStyles" Target="/ppt/tableStyles.xml" Id="Rbd92732527594927" /><Relationship Type="http://schemas.openxmlformats.org/officeDocument/2006/relationships/slide" Target="/ppt/slides/slide1.xml" Id="R67ddcc4f0b4747d7" /><Relationship Type="http://schemas.openxmlformats.org/officeDocument/2006/relationships/slide" Target="/ppt/slides/slide2.xml" Id="Ra14a3a5958294c08" /><Relationship Type="http://schemas.openxmlformats.org/officeDocument/2006/relationships/slide" Target="/ppt/slides/slide3.xml" Id="R7c50cdb8c27c4532" /><Relationship Type="http://schemas.openxmlformats.org/officeDocument/2006/relationships/slide" Target="/ppt/slides/slide4.xml" Id="R0f8f784d10bf40ca" /><Relationship Type="http://schemas.openxmlformats.org/officeDocument/2006/relationships/slide" Target="/ppt/slides/slide5.xml" Id="R405992ce3ed6441a" /><Relationship Type="http://schemas.openxmlformats.org/officeDocument/2006/relationships/slide" Target="/ppt/slides/slide6.xml" Id="Rab1536ab23b54b7b" /><Relationship Type="http://schemas.openxmlformats.org/officeDocument/2006/relationships/slide" Target="/ppt/slides/slide7.xml" Id="R9432b7b691a546bd" /><Relationship Type="http://schemas.openxmlformats.org/officeDocument/2006/relationships/slide" Target="/ppt/slides/slide8.xml" Id="Re8321af9b39945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9273dc92074e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ist Variab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77bcf511b94aad" /><Relationship Type="http://schemas.openxmlformats.org/officeDocument/2006/relationships/notesMaster" Target="/ppt/notesMasters/notesMaster1.xml" Id="R4152d61896a740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030e82085648ee" /><Relationship Type="http://schemas.openxmlformats.org/officeDocument/2006/relationships/notesMaster" Target="/ppt/notesMasters/notesMaster1.xml" Id="R9b09be59d00245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9a5e0f5f5e4400" /><Relationship Type="http://schemas.openxmlformats.org/officeDocument/2006/relationships/notesMaster" Target="/ppt/notesMasters/notesMaster1.xml" Id="R960cc0d915f648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15c5d616234201" /><Relationship Type="http://schemas.openxmlformats.org/officeDocument/2006/relationships/notesMaster" Target="/ppt/notesMasters/notesMaster1.xml" Id="Rbb6bcb14cbb241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14babcf0914a86" /><Relationship Type="http://schemas.openxmlformats.org/officeDocument/2006/relationships/notesMaster" Target="/ppt/notesMasters/notesMaster1.xml" Id="R849112f8c10640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f67f14e3574a1f" /><Relationship Type="http://schemas.openxmlformats.org/officeDocument/2006/relationships/notesMaster" Target="/ppt/notesMasters/notesMaster1.xml" Id="Rb580e62a0ce141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614dcd36ac44d1" /><Relationship Type="http://schemas.openxmlformats.org/officeDocument/2006/relationships/notesMaster" Target="/ppt/notesMasters/notesMaster1.xml" Id="Rdd744ecca1db4a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6bd1f52402435c" /><Relationship Type="http://schemas.openxmlformats.org/officeDocument/2006/relationships/notesMaster" Target="/ppt/notesMasters/notesMaster1.xml" Id="Rd78e78e44fc44a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NodeKit now starts domain-blank while preserving one stable product grammar. Evidence: proof/factory-acceptance.json and the 64-test local suite.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controlling invariant is same-path execution: local, benchmark, browser, and production may vary inputs, but not substitute a parallel agent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Measured by proof/factory-acceptance.json on 2026-07-21. The duration is deterministic local factory acceptance, not hosted latency.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primary nodekit create path rejects legacy presets. Specialized projects are created explicitly as reference applications.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src/lib/caseflow.mjs, src/lib/caseflow-conformance.mjs, and test/caseflow.test.mjs.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inherited Founder Quest screenshot remains reference evidence. It is not presented as part of the neutral starter.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docs/BACKEND_PORTABILITY.md, docs/CONVEX_CASEFLOW_EXTRACTION.md, https://docs.convex.dev/components/authoring, and https://docs.convex.dev/agents/workflows.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Next gate: adopt the portable Caseflow lifecycle in three materially different consumers before publishing a bounded Convex component.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492c677ef6402f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909651443f4a40" /><Relationship Type="http://schemas.openxmlformats.org/officeDocument/2006/relationships/slideLayout" Target="/ppt/slideLayouts/slideLayout1.xml" Id="R2ffec7b22f5c497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fec7b22f5c4972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ist Variab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b26acd2bc4770" /><Relationship Type="http://schemas.openxmlformats.org/officeDocument/2006/relationships/notesSlide" Target="/ppt/notesSlides/notesSlide1.xml" Id="Rd34426facc7543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f6dfdcfed7479e" /><Relationship Type="http://schemas.openxmlformats.org/officeDocument/2006/relationships/notesSlide" Target="/ppt/notesSlides/notesSlide2.xml" Id="R5e3d886195a948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601202e424035" /><Relationship Type="http://schemas.openxmlformats.org/officeDocument/2006/relationships/notesSlide" Target="/ppt/notesSlides/notesSlide3.xml" Id="Ra810798d140345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d4363592b487f" /><Relationship Type="http://schemas.openxmlformats.org/officeDocument/2006/relationships/notesSlide" Target="/ppt/notesSlides/notesSlide4.xml" Id="R03c3c204208840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f58e912244e4d" /><Relationship Type="http://schemas.openxmlformats.org/officeDocument/2006/relationships/notesSlide" Target="/ppt/notesSlides/notesSlide5.xml" Id="R96fa2eef0e414c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a0a07ea0c4591" /><Relationship Type="http://schemas.openxmlformats.org/officeDocument/2006/relationships/image" Target="/ppt/media/image.png" Id="R1e78719609614e44" /><Relationship Type="http://schemas.openxmlformats.org/officeDocument/2006/relationships/notesSlide" Target="/ppt/notesSlides/notesSlide6.xml" Id="R8a6468eae5fc4c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9ac991db6464b" /><Relationship Type="http://schemas.openxmlformats.org/officeDocument/2006/relationships/notesSlide" Target="/ppt/notesSlides/notesSlide7.xml" Id="Rd189793dc30c4a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f1a0baf1c465e" /><Relationship Type="http://schemas.openxmlformats.org/officeDocument/2006/relationships/notesSlide" Target="/ppt/notesSlides/notesSlide8.xml" Id="R6f687f5e1f3c4c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lement_2353766b7264ee7bdb5bdc9aece79a23">
            <a:extLst xmlns:a="http://schemas.openxmlformats.org/drawingml/2006/main">
              <a:ext uri="{FF2B5EF4-FFF2-40B4-BE49-F238E27FC236}">
                <a16:creationId xmlns:a16="http://schemas.microsoft.com/office/drawing/2014/main" id="{44B0ED53-B7D6-4FA3-BF76-D0D5E5A4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09" y="445770"/>
            <a:ext cx="121917" cy="56921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87A8D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f10050eaf08105f3b088f488c3e62213">
            <a:extLst xmlns:a="http://schemas.openxmlformats.org/drawingml/2006/main">
              <a:ext uri="{FF2B5EF4-FFF2-40B4-BE49-F238E27FC236}">
                <a16:creationId xmlns:a16="http://schemas.microsoft.com/office/drawing/2014/main" id="{86523C09-452E-4A0B-A836-42CD9C4B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445770"/>
            <a:ext cx="5852014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500" b="1">
                <a:solidFill>
                  <a:srgbClr val="287A8D"/>
                </a:solidFill>
                <a:latin typeface="Courier New"/>
                <a:ea typeface="Courier New"/>
                <a:cs typeface="Courier New"/>
              </a:rPr>
              <a:t>OPENING / 01</a:t>
            </a:r>
          </a:p>
        </p:txBody>
      </p:sp>
      <p:sp>
        <p:nvSpPr>
          <p:cNvPr id="4" name="element_08666292d034d20b5c786664ea01945f">
            <a:extLst xmlns:a="http://schemas.openxmlformats.org/drawingml/2006/main">
              <a:ext uri="{FF2B5EF4-FFF2-40B4-BE49-F238E27FC236}">
                <a16:creationId xmlns:a16="http://schemas.microsoft.com/office/drawing/2014/main" id="{9E9CF0E5-A623-4051-AC06-69438A20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1028700"/>
            <a:ext cx="9631439" cy="18516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4800" b="1">
                <a:solidFill>
                  <a:srgbClr val="17242B"/>
                </a:solidFill>
                <a:latin typeface="Arial"/>
                <a:ea typeface="Arial"/>
                <a:cs typeface="Arial"/>
              </a:rPr>
              <a:t>Empty directory. Figured-out agent application.</a:t>
            </a:r>
          </a:p>
        </p:txBody>
      </p:sp>
      <p:sp>
        <p:nvSpPr>
          <p:cNvPr id="5" name="element_b852bc502111710e81b7fd6efb839485">
            <a:extLst xmlns:a="http://schemas.openxmlformats.org/drawingml/2006/main">
              <a:ext uri="{FF2B5EF4-FFF2-40B4-BE49-F238E27FC236}">
                <a16:creationId xmlns:a16="http://schemas.microsoft.com/office/drawing/2014/main" id="{62BACFC2-ACC9-4215-9DFF-B88C8C94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3291840"/>
            <a:ext cx="8046519" cy="116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000"/>
              </a:lnSpc>
              <a:buNone/>
            </a:pPr>
            <a:r>
              <a:rPr sz="1900">
                <a:solidFill>
                  <a:srgbClr val="60727B"/>
                </a:solidFill>
                <a:latin typeface="Arial"/>
                <a:ea typeface="Arial"/>
                <a:cs typeface="Arial"/>
              </a:rPr>
              <a:t>One neutral starter connects lifecycle, responsive UI, browser proof, and receipts.</a:t>
            </a:r>
          </a:p>
        </p:txBody>
      </p:sp>
      <p:sp>
        <p:nvSpPr>
          <p:cNvPr id="6" name="element_1080a8f0cb32a82edb683776773616be">
            <a:extLst xmlns:a="http://schemas.openxmlformats.org/drawingml/2006/main">
              <a:ext uri="{FF2B5EF4-FFF2-40B4-BE49-F238E27FC236}">
                <a16:creationId xmlns:a16="http://schemas.microsoft.com/office/drawing/2014/main" id="{B3DE5EE3-8183-410F-B46E-BD919981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4937760"/>
            <a:ext cx="304792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600">
                <a:solidFill>
                  <a:srgbClr val="17242B"/>
                </a:solidFill>
                <a:latin typeface="Arial"/>
                <a:ea typeface="Arial"/>
                <a:cs typeface="Arial"/>
              </a:rPr>
              <a:t>•  One base; no preset</a:t>
            </a:r>
          </a:p>
        </p:txBody>
      </p:sp>
      <p:sp>
        <p:nvSpPr>
          <p:cNvPr id="7" name="element_1cfdb1efb89ed49d7e502333edc97fb7">
            <a:extLst xmlns:a="http://schemas.openxmlformats.org/drawingml/2006/main">
              <a:ext uri="{FF2B5EF4-FFF2-40B4-BE49-F238E27FC236}">
                <a16:creationId xmlns:a16="http://schemas.microsoft.com/office/drawing/2014/main" id="{A29CA8C7-B826-4E85-9B12-7F16B545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093" y="4937760"/>
            <a:ext cx="304792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600">
                <a:solidFill>
                  <a:srgbClr val="17242B"/>
                </a:solidFill>
                <a:latin typeface="Arial"/>
                <a:ea typeface="Arial"/>
                <a:cs typeface="Arial"/>
              </a:rPr>
              <a:t>•  Local proof: 9.989 s</a:t>
            </a:r>
          </a:p>
        </p:txBody>
      </p:sp>
      <p:sp>
        <p:nvSpPr>
          <p:cNvPr id="8" name="element_9f32d4c4a56cad7f61e936a63c3451f9">
            <a:extLst xmlns:a="http://schemas.openxmlformats.org/drawingml/2006/main">
              <a:ext uri="{FF2B5EF4-FFF2-40B4-BE49-F238E27FC236}">
                <a16:creationId xmlns:a16="http://schemas.microsoft.com/office/drawing/2014/main" id="{A2944066-042D-405D-B218-9007CB89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768" y="4937760"/>
            <a:ext cx="304792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600">
                <a:solidFill>
                  <a:srgbClr val="17242B"/>
                </a:solidFill>
                <a:latin typeface="Arial"/>
                <a:ea typeface="Arial"/>
                <a:cs typeface="Arial"/>
              </a:rPr>
              <a:t>•  64 tests; 0 audit issues</a:t>
            </a:r>
          </a:p>
        </p:txBody>
      </p:sp>
      <p:sp>
        <p:nvSpPr>
          <p:cNvPr id="9" name="element_adf06f28096ad78b30d958e009f60216">
            <a:extLst xmlns:a="http://schemas.openxmlformats.org/drawingml/2006/main">
              <a:ext uri="{FF2B5EF4-FFF2-40B4-BE49-F238E27FC236}">
                <a16:creationId xmlns:a16="http://schemas.microsoft.com/office/drawing/2014/main" id="{DD82D8D4-A37F-45C3-9659-8EC60075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6377940"/>
            <a:ext cx="8778021" cy="2400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000">
                <a:solidFill>
                  <a:srgbClr val="60727B"/>
                </a:solidFill>
                <a:latin typeface="Courier New"/>
                <a:ea typeface="Courier New"/>
                <a:cs typeface="Courier New"/>
              </a:rPr>
              <a:t>NODEKIT  ·  FIGURED OUT  ·  PROOF-CARRYING</a:t>
            </a:r>
          </a:p>
        </p:txBody>
      </p:sp>
      <p:sp>
        <p:nvSpPr>
          <p:cNvPr id="10" name="element_0f03ca6bd6169213f713a507b385e6c7">
            <a:extLst xmlns:a="http://schemas.openxmlformats.org/drawingml/2006/main">
              <a:ext uri="{FF2B5EF4-FFF2-40B4-BE49-F238E27FC236}">
                <a16:creationId xmlns:a16="http://schemas.microsoft.com/office/drawing/2014/main" id="{87F1FEDC-1112-4CFB-BE3C-D3617FAF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92" y="6309360"/>
            <a:ext cx="731502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20000"/>
              </a:lnSpc>
              <a:buNone/>
            </a:pPr>
            <a:r>
              <a:rPr sz="1300" b="1">
                <a:solidFill>
                  <a:srgbClr val="287A8D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592488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lement_ac4145dbd4fdc018000e2999fe5c59b6">
            <a:extLst xmlns:a="http://schemas.openxmlformats.org/drawingml/2006/main">
              <a:ext uri="{FF2B5EF4-FFF2-40B4-BE49-F238E27FC236}">
                <a16:creationId xmlns:a16="http://schemas.microsoft.com/office/drawing/2014/main" id="{B082F9A4-7C80-4AA5-8E0D-B446DFCE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09" y="445770"/>
            <a:ext cx="121917" cy="56921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87A8D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29ef38175abb49765690d237b3acb36e">
            <a:extLst xmlns:a="http://schemas.openxmlformats.org/drawingml/2006/main">
              <a:ext uri="{FF2B5EF4-FFF2-40B4-BE49-F238E27FC236}">
                <a16:creationId xmlns:a16="http://schemas.microsoft.com/office/drawing/2014/main" id="{D767CF7B-BB8B-4599-A5B0-4748A962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445770"/>
            <a:ext cx="5852014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500" b="1">
                <a:solidFill>
                  <a:srgbClr val="287A8D"/>
                </a:solidFill>
                <a:latin typeface="Courier New"/>
                <a:ea typeface="Courier New"/>
                <a:cs typeface="Courier New"/>
              </a:rPr>
              <a:t>STAKES / 02</a:t>
            </a:r>
          </a:p>
        </p:txBody>
      </p:sp>
      <p:sp>
        <p:nvSpPr>
          <p:cNvPr id="4" name="element_627b9ceb6a195bced4dd9dc740de4d5e">
            <a:extLst xmlns:a="http://schemas.openxmlformats.org/drawingml/2006/main">
              <a:ext uri="{FF2B5EF4-FFF2-40B4-BE49-F238E27FC236}">
                <a16:creationId xmlns:a16="http://schemas.microsoft.com/office/drawing/2014/main" id="{983C98CD-2C4C-41E5-A4D4-32CCF3C1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1028700"/>
            <a:ext cx="9265688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3800" b="1">
                <a:solidFill>
                  <a:srgbClr val="17242B"/>
                </a:solidFill>
                <a:latin typeface="Arial"/>
                <a:ea typeface="Arial"/>
                <a:cs typeface="Arial"/>
              </a:rPr>
              <a:t>The product path must stay the proof path.</a:t>
            </a:r>
          </a:p>
        </p:txBody>
      </p:sp>
      <p:sp>
        <p:nvSpPr>
          <p:cNvPr id="5" name="element_86bc7cdfde4f27bae77c7ff721175c58">
            <a:extLst xmlns:a="http://schemas.openxmlformats.org/drawingml/2006/main">
              <a:ext uri="{FF2B5EF4-FFF2-40B4-BE49-F238E27FC236}">
                <a16:creationId xmlns:a16="http://schemas.microsoft.com/office/drawing/2014/main" id="{201F5D36-293E-42A5-965A-C9521D32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2743200"/>
            <a:ext cx="963143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000"/>
              </a:lnSpc>
              <a:buNone/>
            </a:pPr>
            <a:r>
              <a:rPr sz="1900">
                <a:solidFill>
                  <a:srgbClr val="60727B"/>
                </a:solidFill>
                <a:latin typeface="Arial"/>
                <a:ea typeface="Arial"/>
                <a:cs typeface="Arial"/>
              </a:rPr>
              <a:t>Generation is cheap. Trust breaks when demo, evaluation, browser, and production run different implementations.</a:t>
            </a:r>
          </a:p>
        </p:txBody>
      </p:sp>
      <p:sp>
        <p:nvSpPr>
          <p:cNvPr id="6" name="element_15d3554a4029844201b3e167a8fbc133">
            <a:extLst xmlns:a="http://schemas.openxmlformats.org/drawingml/2006/main">
              <a:ext uri="{FF2B5EF4-FFF2-40B4-BE49-F238E27FC236}">
                <a16:creationId xmlns:a16="http://schemas.microsoft.com/office/drawing/2014/main" id="{8F40C08C-A519-4B42-8CD8-6906FD70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4251960"/>
            <a:ext cx="3169841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700">
                <a:solidFill>
                  <a:srgbClr val="17242B"/>
                </a:solidFill>
                <a:latin typeface="Arial"/>
                <a:ea typeface="Arial"/>
                <a:cs typeface="Arial"/>
              </a:rPr>
              <a:t>01 One compiled definition serves every gate</a:t>
            </a:r>
          </a:p>
        </p:txBody>
      </p:sp>
      <p:sp>
        <p:nvSpPr>
          <p:cNvPr id="7" name="element_0f06cf0e1f33b6fd1d275dd2a46ab4f7">
            <a:extLst xmlns:a="http://schemas.openxmlformats.org/drawingml/2006/main">
              <a:ext uri="{FF2B5EF4-FFF2-40B4-BE49-F238E27FC236}">
                <a16:creationId xmlns:a16="http://schemas.microsoft.com/office/drawing/2014/main" id="{443BA58F-CABC-4F81-8672-55DC7320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010" y="4251960"/>
            <a:ext cx="3169841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700">
                <a:solidFill>
                  <a:srgbClr val="17242B"/>
                </a:solidFill>
                <a:latin typeface="Arial"/>
                <a:ea typeface="Arial"/>
                <a:cs typeface="Arial"/>
              </a:rPr>
              <a:t>02 Receipts bind the exact candidate</a:t>
            </a:r>
          </a:p>
        </p:txBody>
      </p:sp>
      <p:sp>
        <p:nvSpPr>
          <p:cNvPr id="8" name="element_27d3209f7da53dfa7d39922285e46051">
            <a:extLst xmlns:a="http://schemas.openxmlformats.org/drawingml/2006/main">
              <a:ext uri="{FF2B5EF4-FFF2-40B4-BE49-F238E27FC236}">
                <a16:creationId xmlns:a16="http://schemas.microsoft.com/office/drawing/2014/main" id="{60F874A3-9B1F-43B6-8A3C-01A3140F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602" y="4251960"/>
            <a:ext cx="3169841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700">
                <a:solidFill>
                  <a:srgbClr val="17242B"/>
                </a:solidFill>
                <a:latin typeface="Arial"/>
                <a:ea typeface="Arial"/>
                <a:cs typeface="Arial"/>
              </a:rPr>
              <a:t>03 Failed gates remain visible</a:t>
            </a:r>
          </a:p>
        </p:txBody>
      </p:sp>
      <p:sp>
        <p:nvSpPr>
          <p:cNvPr id="9" name="element_2e8b27f6277d1615787e84b456a60b67">
            <a:extLst xmlns:a="http://schemas.openxmlformats.org/drawingml/2006/main">
              <a:ext uri="{FF2B5EF4-FFF2-40B4-BE49-F238E27FC236}">
                <a16:creationId xmlns:a16="http://schemas.microsoft.com/office/drawing/2014/main" id="{9AAE6043-0282-423E-AA49-0D2D3624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6377940"/>
            <a:ext cx="8778021" cy="2400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000">
                <a:solidFill>
                  <a:srgbClr val="60727B"/>
                </a:solidFill>
                <a:latin typeface="Courier New"/>
                <a:ea typeface="Courier New"/>
                <a:cs typeface="Courier New"/>
              </a:rPr>
              <a:t>NODEKIT  ·  FIGURED OUT  ·  PROOF-CARRYING</a:t>
            </a:r>
          </a:p>
        </p:txBody>
      </p:sp>
      <p:sp>
        <p:nvSpPr>
          <p:cNvPr id="10" name="element_56d08c738ab3d632b7a0c174a382b632">
            <a:extLst xmlns:a="http://schemas.openxmlformats.org/drawingml/2006/main">
              <a:ext uri="{FF2B5EF4-FFF2-40B4-BE49-F238E27FC236}">
                <a16:creationId xmlns:a16="http://schemas.microsoft.com/office/drawing/2014/main" id="{689EF403-98DA-4120-9A77-E5CE7A6A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92" y="6309360"/>
            <a:ext cx="731502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20000"/>
              </a:lnSpc>
              <a:buNone/>
            </a:pPr>
            <a:r>
              <a:rPr sz="1300" b="1">
                <a:solidFill>
                  <a:srgbClr val="287A8D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13085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lement_11993a4790cefefdbb8791acdbe5c16a">
            <a:extLst xmlns:a="http://schemas.openxmlformats.org/drawingml/2006/main">
              <a:ext uri="{FF2B5EF4-FFF2-40B4-BE49-F238E27FC236}">
                <a16:creationId xmlns:a16="http://schemas.microsoft.com/office/drawing/2014/main" id="{E5BD315C-4C3C-4284-A464-E3C56AFA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09" y="445770"/>
            <a:ext cx="121917" cy="56921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87A8D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e6862ea9deea0f6a27d159088fc6db9e">
            <a:extLst xmlns:a="http://schemas.openxmlformats.org/drawingml/2006/main">
              <a:ext uri="{FF2B5EF4-FFF2-40B4-BE49-F238E27FC236}">
                <a16:creationId xmlns:a16="http://schemas.microsoft.com/office/drawing/2014/main" id="{2DDBF630-2B3A-4BCA-A504-7C67E774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445770"/>
            <a:ext cx="5852014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500" b="1">
                <a:solidFill>
                  <a:srgbClr val="287A8D"/>
                </a:solidFill>
                <a:latin typeface="Courier New"/>
                <a:ea typeface="Courier New"/>
                <a:cs typeface="Courier New"/>
              </a:rPr>
              <a:t>EVIDENCE / 03</a:t>
            </a:r>
          </a:p>
        </p:txBody>
      </p:sp>
      <p:sp>
        <p:nvSpPr>
          <p:cNvPr id="4" name="element_f8394370c2f95aaae50bcc4427e73558">
            <a:extLst xmlns:a="http://schemas.openxmlformats.org/drawingml/2006/main">
              <a:ext uri="{FF2B5EF4-FFF2-40B4-BE49-F238E27FC236}">
                <a16:creationId xmlns:a16="http://schemas.microsoft.com/office/drawing/2014/main" id="{277590DD-A46F-4D8F-9B70-5EE0DE30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1028700"/>
            <a:ext cx="9265688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3800" b="1">
                <a:solidFill>
                  <a:srgbClr val="17242B"/>
                </a:solidFill>
                <a:latin typeface="Arial"/>
                <a:ea typeface="Arial"/>
                <a:cs typeface="Arial"/>
              </a:rPr>
              <a:t>One neutral application passed the full factory path in 9.989 seconds.</a:t>
            </a:r>
          </a:p>
        </p:txBody>
      </p:sp>
      <p:sp>
        <p:nvSpPr>
          <p:cNvPr id="5" name="element_ba2235136715e69a6f61800926c682a8">
            <a:extLst xmlns:a="http://schemas.openxmlformats.org/drawingml/2006/main">
              <a:ext uri="{FF2B5EF4-FFF2-40B4-BE49-F238E27FC236}">
                <a16:creationId xmlns:a16="http://schemas.microsoft.com/office/drawing/2014/main" id="{36AC07E0-27E1-40CB-A51E-CE2212C0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2743200"/>
            <a:ext cx="4754761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7719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000"/>
              </a:lnSpc>
              <a:buNone/>
            </a:pPr>
            <a:r>
              <a:rPr sz="1900">
                <a:solidFill>
                  <a:srgbClr val="60727B"/>
                </a:solidFill>
                <a:latin typeface="Arial"/>
                <a:ea typeface="Arial"/>
                <a:cs typeface="Arial"/>
              </a:rPr>
              <a:t>From an empty directory, NodeKit installed, compiled, checked, demonstrated, evaluated, browser-tested, and proof-bound one domain-blank app.</a:t>
            </a:r>
          </a:p>
        </p:txBody>
      </p:sp>
      <p:sp>
        <p:nvSpPr>
          <p:cNvPr id="6" name="element_1f2de5f2c88df9901e9e651d987dc04b">
            <a:extLst xmlns:a="http://schemas.openxmlformats.org/drawingml/2006/main">
              <a:ext uri="{FF2B5EF4-FFF2-40B4-BE49-F238E27FC236}">
                <a16:creationId xmlns:a16="http://schemas.microsoft.com/office/drawing/2014/main" id="{FBFD7BC7-8C41-4E97-8307-DAB61191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4251960"/>
            <a:ext cx="4754761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700">
                <a:solidFill>
                  <a:srgbClr val="17242B"/>
                </a:solidFill>
                <a:latin typeface="Arial"/>
                <a:ea typeface="Arial"/>
                <a:cs typeface="Arial"/>
              </a:rPr>
              <a:t>01 Domain-blank base: passed</a:t>
            </a:r>
          </a:p>
        </p:txBody>
      </p:sp>
      <p:sp>
        <p:nvSpPr>
          <p:cNvPr id="7" name="element_9fa5a687cf3820ee4cde98641fb34b1e">
            <a:extLst xmlns:a="http://schemas.openxmlformats.org/drawingml/2006/main">
              <a:ext uri="{FF2B5EF4-FFF2-40B4-BE49-F238E27FC236}">
                <a16:creationId xmlns:a16="http://schemas.microsoft.com/office/drawing/2014/main" id="{8CDB4FBA-3907-4AB3-98B9-B5C10ABE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4937760"/>
            <a:ext cx="4754761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700">
                <a:solidFill>
                  <a:srgbClr val="17242B"/>
                </a:solidFill>
                <a:latin typeface="Arial"/>
                <a:ea typeface="Arial"/>
                <a:cs typeface="Arial"/>
              </a:rPr>
              <a:t>02 Candidate and config: bound</a:t>
            </a:r>
          </a:p>
        </p:txBody>
      </p:sp>
      <p:sp>
        <p:nvSpPr>
          <p:cNvPr id="8" name="element_83465293695b1fa37a8fdbb612cf9643">
            <a:extLst xmlns:a="http://schemas.openxmlformats.org/drawingml/2006/main">
              <a:ext uri="{FF2B5EF4-FFF2-40B4-BE49-F238E27FC236}">
                <a16:creationId xmlns:a16="http://schemas.microsoft.com/office/drawing/2014/main" id="{0848A7AB-6685-4DF7-8DC3-14FA4845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5623560"/>
            <a:ext cx="4754761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700">
                <a:solidFill>
                  <a:srgbClr val="17242B"/>
                </a:solidFill>
                <a:latin typeface="Arial"/>
                <a:ea typeface="Arial"/>
                <a:cs typeface="Arial"/>
              </a:rPr>
              <a:t>03 Local benchmark, not production latency</a:t>
            </a:r>
          </a:p>
        </p:txBody>
      </p:sp>
      <p:sp>
        <p:nvSpPr>
          <p:cNvPr id="9" name="element_ea3d8805ae384f37bf4911a0b71bf299">
            <a:extLst xmlns:a="http://schemas.openxmlformats.org/drawingml/2006/main">
              <a:ext uri="{FF2B5EF4-FFF2-40B4-BE49-F238E27FC236}">
                <a16:creationId xmlns:a16="http://schemas.microsoft.com/office/drawing/2014/main" id="{085505DF-47A3-465A-8F6A-96D845F4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7349" y="2811780"/>
            <a:ext cx="4145176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0" tIns="254000" rIns="254000" bIns="2540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5600" b="1">
                <a:solidFill>
                  <a:srgbClr val="15554E"/>
                </a:solidFill>
                <a:latin typeface="Courier New"/>
                <a:ea typeface="Courier New"/>
                <a:cs typeface="Courier New"/>
              </a:rPr>
              <a:t>9.989 s</a:t>
            </a:r>
          </a:p>
        </p:txBody>
      </p:sp>
      <p:sp>
        <p:nvSpPr>
          <p:cNvPr id="10" name="element_a29a96e86322caf1ad01bd4210d5db3f">
            <a:extLst xmlns:a="http://schemas.openxmlformats.org/drawingml/2006/main">
              <a:ext uri="{FF2B5EF4-FFF2-40B4-BE49-F238E27FC236}">
                <a16:creationId xmlns:a16="http://schemas.microsoft.com/office/drawing/2014/main" id="{5CD31C27-AD0B-4A7A-92B1-1A7D8164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100" y="4320540"/>
            <a:ext cx="3535592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500">
                <a:solidFill>
                  <a:srgbClr val="60727B"/>
                </a:solidFill>
                <a:latin typeface="Arial"/>
                <a:ea typeface="Arial"/>
                <a:cs typeface="Arial"/>
              </a:rPr>
              <a:t>deterministic empty-directory factory acceptance</a:t>
            </a:r>
          </a:p>
        </p:txBody>
      </p:sp>
      <p:sp>
        <p:nvSpPr>
          <p:cNvPr id="11" name="element_b74d2c94a0760efb99e06f8c5b1c5112">
            <a:extLst xmlns:a="http://schemas.openxmlformats.org/drawingml/2006/main">
              <a:ext uri="{FF2B5EF4-FFF2-40B4-BE49-F238E27FC236}">
                <a16:creationId xmlns:a16="http://schemas.microsoft.com/office/drawing/2014/main" id="{990D1F15-3345-4A53-89F0-5FDB3AA0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6377940"/>
            <a:ext cx="8778021" cy="2400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000">
                <a:solidFill>
                  <a:srgbClr val="60727B"/>
                </a:solidFill>
                <a:latin typeface="Courier New"/>
                <a:ea typeface="Courier New"/>
                <a:cs typeface="Courier New"/>
              </a:rPr>
              <a:t>NODEKIT  ·  FIGURED OUT  ·  PROOF-CARRYING</a:t>
            </a:r>
          </a:p>
        </p:txBody>
      </p:sp>
      <p:sp>
        <p:nvSpPr>
          <p:cNvPr id="12" name="element_bd243cee183a99b86a3af53649936c16">
            <a:extLst xmlns:a="http://schemas.openxmlformats.org/drawingml/2006/main">
              <a:ext uri="{FF2B5EF4-FFF2-40B4-BE49-F238E27FC236}">
                <a16:creationId xmlns:a16="http://schemas.microsoft.com/office/drawing/2014/main" id="{114B9364-0E3E-4FF9-ACCD-EB901427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92" y="6309360"/>
            <a:ext cx="731502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20000"/>
              </a:lnSpc>
              <a:buNone/>
            </a:pPr>
            <a:r>
              <a:rPr sz="1300" b="1">
                <a:solidFill>
                  <a:srgbClr val="287A8D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16621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lement_ce07d73e506dfb881c6427f2432697a3">
            <a:extLst xmlns:a="http://schemas.openxmlformats.org/drawingml/2006/main">
              <a:ext uri="{FF2B5EF4-FFF2-40B4-BE49-F238E27FC236}">
                <a16:creationId xmlns:a16="http://schemas.microsoft.com/office/drawing/2014/main" id="{60A8C18D-AB27-4B81-A91F-442DF77B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09" y="445770"/>
            <a:ext cx="121917" cy="56921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87A8D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48c4131badb71ef2f80ebd0087179dc6">
            <a:extLst xmlns:a="http://schemas.openxmlformats.org/drawingml/2006/main">
              <a:ext uri="{FF2B5EF4-FFF2-40B4-BE49-F238E27FC236}">
                <a16:creationId xmlns:a16="http://schemas.microsoft.com/office/drawing/2014/main" id="{E99C8108-B594-463C-8DB7-A24F978D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445770"/>
            <a:ext cx="5852014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500" b="1">
                <a:solidFill>
                  <a:srgbClr val="287A8D"/>
                </a:solidFill>
                <a:latin typeface="Courier New"/>
                <a:ea typeface="Courier New"/>
                <a:cs typeface="Courier New"/>
              </a:rPr>
              <a:t>PRODUCT BOUNDARY / 04</a:t>
            </a:r>
          </a:p>
        </p:txBody>
      </p:sp>
      <p:sp>
        <p:nvSpPr>
          <p:cNvPr id="4" name="element_90a4e2d6ed09f9ba6dd494993c6d723b">
            <a:extLst xmlns:a="http://schemas.openxmlformats.org/drawingml/2006/main">
              <a:ext uri="{FF2B5EF4-FFF2-40B4-BE49-F238E27FC236}">
                <a16:creationId xmlns:a16="http://schemas.microsoft.com/office/drawing/2014/main" id="{AE1BAFB0-6A17-4F30-8593-892C9F43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1028700"/>
            <a:ext cx="9265688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3800" b="1">
                <a:solidFill>
                  <a:srgbClr val="17242B"/>
                </a:solidFill>
                <a:latin typeface="Arial"/>
                <a:ea typeface="Arial"/>
                <a:cs typeface="Arial"/>
              </a:rPr>
              <a:t>Domain behavior moved out of the default and into reference applications.</a:t>
            </a:r>
          </a:p>
        </p:txBody>
      </p:sp>
      <p:sp>
        <p:nvSpPr>
          <p:cNvPr id="5" name="element_03eb50d842f873e3e5040494eea1ced0">
            <a:extLst xmlns:a="http://schemas.openxmlformats.org/drawingml/2006/main">
              <a:ext uri="{FF2B5EF4-FFF2-40B4-BE49-F238E27FC236}">
                <a16:creationId xmlns:a16="http://schemas.microsoft.com/office/drawing/2014/main" id="{CAF0EE9E-6165-4444-8716-F64B847A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2743200"/>
            <a:ext cx="4754761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7719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000"/>
              </a:lnSpc>
              <a:buNone/>
            </a:pPr>
            <a:r>
              <a:rPr sz="1900">
                <a:solidFill>
                  <a:srgbClr val="60727B"/>
                </a:solidFill>
                <a:latin typeface="Arial"/>
                <a:ea typeface="Arial"/>
                <a:cs typeface="Arial"/>
              </a:rPr>
              <a:t>The starter is blank in domain and figured out in behavior. Research, lending, and RL examples now prove extension points without defining the base product.</a:t>
            </a:r>
          </a:p>
        </p:txBody>
      </p:sp>
      <p:sp>
        <p:nvSpPr>
          <p:cNvPr id="6" name="element_2ef3d8b3cb3ac52334226c56a07c2c7f">
            <a:extLst xmlns:a="http://schemas.openxmlformats.org/drawingml/2006/main">
              <a:ext uri="{FF2B5EF4-FFF2-40B4-BE49-F238E27FC236}">
                <a16:creationId xmlns:a16="http://schemas.microsoft.com/office/drawing/2014/main" id="{B93991D0-7952-4FA2-B937-FFF63D0D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4251960"/>
            <a:ext cx="4754761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700">
                <a:solidFill>
                  <a:srgbClr val="17242B"/>
                </a:solidFill>
                <a:latin typeface="Arial"/>
                <a:ea typeface="Arial"/>
                <a:cs typeface="Arial"/>
              </a:rPr>
              <a:t>01 One neutral primary create command</a:t>
            </a:r>
          </a:p>
        </p:txBody>
      </p:sp>
      <p:sp>
        <p:nvSpPr>
          <p:cNvPr id="7" name="element_ee5079bac7af67e5abbb05e7d2efe591">
            <a:extLst xmlns:a="http://schemas.openxmlformats.org/drawingml/2006/main">
              <a:ext uri="{FF2B5EF4-FFF2-40B4-BE49-F238E27FC236}">
                <a16:creationId xmlns:a16="http://schemas.microsoft.com/office/drawing/2014/main" id="{11A49EA5-2F3D-47CC-AC74-8B1AF9E9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4937760"/>
            <a:ext cx="4754761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700">
                <a:solidFill>
                  <a:srgbClr val="17242B"/>
                </a:solidFill>
                <a:latin typeface="Arial"/>
                <a:ea typeface="Arial"/>
                <a:cs typeface="Arial"/>
              </a:rPr>
              <a:t>02 Domain packs own specialized behavior</a:t>
            </a:r>
          </a:p>
        </p:txBody>
      </p:sp>
      <p:sp>
        <p:nvSpPr>
          <p:cNvPr id="8" name="element_56c08de2b03f411a45252d85de31a3e4">
            <a:extLst xmlns:a="http://schemas.openxmlformats.org/drawingml/2006/main">
              <a:ext uri="{FF2B5EF4-FFF2-40B4-BE49-F238E27FC236}">
                <a16:creationId xmlns:a16="http://schemas.microsoft.com/office/drawing/2014/main" id="{60148284-4EA0-4783-8C0D-606C85DD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5623560"/>
            <a:ext cx="4754761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700">
                <a:solidFill>
                  <a:srgbClr val="17242B"/>
                </a:solidFill>
                <a:latin typeface="Arial"/>
                <a:ea typeface="Arial"/>
                <a:cs typeface="Arial"/>
              </a:rPr>
              <a:t>03 Reference apps remain inspectable</a:t>
            </a:r>
          </a:p>
        </p:txBody>
      </p:sp>
      <p:sp>
        <p:nvSpPr>
          <p:cNvPr id="9" name="element_9b1035cd43eb9dab3b435e2bc696f727">
            <a:extLst xmlns:a="http://schemas.openxmlformats.org/drawingml/2006/main">
              <a:ext uri="{FF2B5EF4-FFF2-40B4-BE49-F238E27FC236}">
                <a16:creationId xmlns:a16="http://schemas.microsoft.com/office/drawing/2014/main" id="{2084EF98-D99C-40D3-BD6A-05B3D806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598" y="2880360"/>
            <a:ext cx="4754761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0" tIns="254000" rIns="254000" bIns="254000" anchor="ctr">
            <a:normAutofit fontScale="88496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3000" b="1">
                <a:solidFill>
                  <a:srgbClr val="15554E"/>
                </a:solidFill>
                <a:latin typeface="Courier New"/>
                <a:ea typeface="Courier New"/>
                <a:cs typeface="Courier New"/>
              </a:rPr>
              <a:t>neutral base → domain pack → reference app</a:t>
            </a:r>
          </a:p>
        </p:txBody>
      </p:sp>
      <p:sp>
        <p:nvSpPr>
          <p:cNvPr id="10" name="element_327595c9af25e400cfeeab8f7a9b4420">
            <a:extLst xmlns:a="http://schemas.openxmlformats.org/drawingml/2006/main">
              <a:ext uri="{FF2B5EF4-FFF2-40B4-BE49-F238E27FC236}">
                <a16:creationId xmlns:a16="http://schemas.microsoft.com/office/drawing/2014/main" id="{E36E1368-0C8E-4588-854B-B9BB48B6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6377940"/>
            <a:ext cx="8778021" cy="2400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000">
                <a:solidFill>
                  <a:srgbClr val="60727B"/>
                </a:solidFill>
                <a:latin typeface="Courier New"/>
                <a:ea typeface="Courier New"/>
                <a:cs typeface="Courier New"/>
              </a:rPr>
              <a:t>NODEKIT  ·  FIGURED OUT  ·  PROOF-CARRYING</a:t>
            </a:r>
          </a:p>
        </p:txBody>
      </p:sp>
      <p:sp>
        <p:nvSpPr>
          <p:cNvPr id="11" name="element_32a4580ff93feaafd129af045d43ab92">
            <a:extLst xmlns:a="http://schemas.openxmlformats.org/drawingml/2006/main">
              <a:ext uri="{FF2B5EF4-FFF2-40B4-BE49-F238E27FC236}">
                <a16:creationId xmlns:a16="http://schemas.microsoft.com/office/drawing/2014/main" id="{0E3AE85E-14EC-453C-BE85-83BA84EF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92" y="6309360"/>
            <a:ext cx="731502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20000"/>
              </a:lnSpc>
              <a:buNone/>
            </a:pPr>
            <a:r>
              <a:rPr sz="1300" b="1">
                <a:solidFill>
                  <a:srgbClr val="287A8D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618286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lement_ce07d73e506dfb881c6427f2432697a3">
            <a:extLst xmlns:a="http://schemas.openxmlformats.org/drawingml/2006/main">
              <a:ext uri="{FF2B5EF4-FFF2-40B4-BE49-F238E27FC236}">
                <a16:creationId xmlns:a16="http://schemas.microsoft.com/office/drawing/2014/main" id="{60A8C18D-AB27-4B81-A91F-442DF77B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09" y="445770"/>
            <a:ext cx="121917" cy="56921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87A8D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48c4131badb71ef2f80ebd0087179dc6">
            <a:extLst xmlns:a="http://schemas.openxmlformats.org/drawingml/2006/main">
              <a:ext uri="{FF2B5EF4-FFF2-40B4-BE49-F238E27FC236}">
                <a16:creationId xmlns:a16="http://schemas.microsoft.com/office/drawing/2014/main" id="{E99C8108-B594-463C-8DB7-A24F978D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445770"/>
            <a:ext cx="5852014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500" b="1">
                <a:solidFill>
                  <a:srgbClr val="287A8D"/>
                </a:solidFill>
                <a:latin typeface="Courier New"/>
                <a:ea typeface="Courier New"/>
                <a:cs typeface="Courier New"/>
              </a:rPr>
              <a:t>PORTABLE CORE / 05</a:t>
            </a:r>
          </a:p>
        </p:txBody>
      </p:sp>
      <p:sp>
        <p:nvSpPr>
          <p:cNvPr id="4" name="element_90a4e2d6ed09f9ba6dd494993c6d723b">
            <a:extLst xmlns:a="http://schemas.openxmlformats.org/drawingml/2006/main">
              <a:ext uri="{FF2B5EF4-FFF2-40B4-BE49-F238E27FC236}">
                <a16:creationId xmlns:a16="http://schemas.microsoft.com/office/drawing/2014/main" id="{AE1BAFB0-6A17-4F30-8593-892C9F43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1028700"/>
            <a:ext cx="9265688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3800" b="1">
                <a:solidFill>
                  <a:srgbClr val="17242B"/>
                </a:solidFill>
                <a:latin typeface="Arial"/>
                <a:ea typeface="Arial"/>
                <a:cs typeface="Arial"/>
              </a:rPr>
              <a:t>Caseflow makes generated work safe before any backend is chosen.</a:t>
            </a:r>
          </a:p>
        </p:txBody>
      </p:sp>
      <p:sp>
        <p:nvSpPr>
          <p:cNvPr id="5" name="element_03eb50d842f873e3e5040494eea1ced0">
            <a:extLst xmlns:a="http://schemas.openxmlformats.org/drawingml/2006/main">
              <a:ext uri="{FF2B5EF4-FFF2-40B4-BE49-F238E27FC236}">
                <a16:creationId xmlns:a16="http://schemas.microsoft.com/office/drawing/2014/main" id="{CAF0EE9E-6165-4444-8716-F64B847A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2743200"/>
            <a:ext cx="4754761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7719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000"/>
              </a:lnSpc>
              <a:buNone/>
            </a:pPr>
            <a:r>
              <a:rPr sz="1900">
                <a:solidFill>
                  <a:srgbClr val="60727B"/>
                </a:solidFill>
                <a:latin typeface="Arial"/>
                <a:ea typeface="Arial"/>
                <a:cs typeface="Arial"/>
              </a:rPr>
              <a:t>The portable core owns lifecycle transitions, optimistic concurrency, explicit next-action ownership, safe failure, and content-addressed completion receipts.</a:t>
            </a:r>
          </a:p>
        </p:txBody>
      </p:sp>
      <p:sp>
        <p:nvSpPr>
          <p:cNvPr id="6" name="element_2ef3d8b3cb3ac52334226c56a07c2c7f">
            <a:extLst xmlns:a="http://schemas.openxmlformats.org/drawingml/2006/main">
              <a:ext uri="{FF2B5EF4-FFF2-40B4-BE49-F238E27FC236}">
                <a16:creationId xmlns:a16="http://schemas.microsoft.com/office/drawing/2014/main" id="{B93991D0-7952-4FA2-B937-FFF63D0D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4251960"/>
            <a:ext cx="4754761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700">
                <a:solidFill>
                  <a:srgbClr val="17242B"/>
                </a:solidFill>
                <a:latin typeface="Arial"/>
                <a:ea typeface="Arial"/>
                <a:cs typeface="Arial"/>
              </a:rPr>
              <a:t>01 Memory adapter passes conformance</a:t>
            </a:r>
          </a:p>
        </p:txBody>
      </p:sp>
      <p:sp>
        <p:nvSpPr>
          <p:cNvPr id="7" name="element_ee5079bac7af67e5abbb05e7d2efe591">
            <a:extLst xmlns:a="http://schemas.openxmlformats.org/drawingml/2006/main">
              <a:ext uri="{FF2B5EF4-FFF2-40B4-BE49-F238E27FC236}">
                <a16:creationId xmlns:a16="http://schemas.microsoft.com/office/drawing/2014/main" id="{11A49EA5-2F3D-47CC-AC74-8B1AF9E9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4937760"/>
            <a:ext cx="4754761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700">
                <a:solidFill>
                  <a:srgbClr val="17242B"/>
                </a:solidFill>
                <a:latin typeface="Arial"/>
                <a:ea typeface="Arial"/>
                <a:cs typeface="Arial"/>
              </a:rPr>
              <a:t>02 Stale proposals conflict, never clobber</a:t>
            </a:r>
          </a:p>
        </p:txBody>
      </p:sp>
      <p:sp>
        <p:nvSpPr>
          <p:cNvPr id="8" name="element_56c08de2b03f411a45252d85de31a3e4">
            <a:extLst xmlns:a="http://schemas.openxmlformats.org/drawingml/2006/main">
              <a:ext uri="{FF2B5EF4-FFF2-40B4-BE49-F238E27FC236}">
                <a16:creationId xmlns:a16="http://schemas.microsoft.com/office/drawing/2014/main" id="{60148284-4EA0-4783-8C0D-606C85DD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5623560"/>
            <a:ext cx="4754761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700">
                <a:solidFill>
                  <a:srgbClr val="17242B"/>
                </a:solidFill>
                <a:latin typeface="Arial"/>
                <a:ea typeface="Arial"/>
                <a:cs typeface="Arial"/>
              </a:rPr>
              <a:t>03 Completion emits an immutable receipt</a:t>
            </a:r>
          </a:p>
        </p:txBody>
      </p:sp>
      <p:sp>
        <p:nvSpPr>
          <p:cNvPr id="9" name="element_9b1035cd43eb9dab3b435e2bc696f727">
            <a:extLst xmlns:a="http://schemas.openxmlformats.org/drawingml/2006/main">
              <a:ext uri="{FF2B5EF4-FFF2-40B4-BE49-F238E27FC236}">
                <a16:creationId xmlns:a16="http://schemas.microsoft.com/office/drawing/2014/main" id="{2084EF98-D99C-40D3-BD6A-05B3D806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598" y="2880360"/>
            <a:ext cx="4754761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0" tIns="254000" rIns="254000" bIns="254000" anchor="ctr">
            <a:normAutofit fontScale="72142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3000" b="1">
                <a:solidFill>
                  <a:srgbClr val="15554E"/>
                </a:solidFill>
                <a:latin typeface="Courier New"/>
                <a:ea typeface="Courier New"/>
                <a:cs typeface="Courier New"/>
              </a:rPr>
              <a:t>case → run → stage → artifact → proposal → approval → receipt</a:t>
            </a:r>
          </a:p>
        </p:txBody>
      </p:sp>
      <p:sp>
        <p:nvSpPr>
          <p:cNvPr id="10" name="element_327595c9af25e400cfeeab8f7a9b4420">
            <a:extLst xmlns:a="http://schemas.openxmlformats.org/drawingml/2006/main">
              <a:ext uri="{FF2B5EF4-FFF2-40B4-BE49-F238E27FC236}">
                <a16:creationId xmlns:a16="http://schemas.microsoft.com/office/drawing/2014/main" id="{E36E1368-0C8E-4588-854B-B9BB48B6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6377940"/>
            <a:ext cx="8778021" cy="2400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000">
                <a:solidFill>
                  <a:srgbClr val="60727B"/>
                </a:solidFill>
                <a:latin typeface="Courier New"/>
                <a:ea typeface="Courier New"/>
                <a:cs typeface="Courier New"/>
              </a:rPr>
              <a:t>NODEKIT  ·  FIGURED OUT  ·  PROOF-CARRYING</a:t>
            </a:r>
          </a:p>
        </p:txBody>
      </p:sp>
      <p:sp>
        <p:nvSpPr>
          <p:cNvPr id="11" name="element_32a4580ff93feaafd129af045d43ab92">
            <a:extLst xmlns:a="http://schemas.openxmlformats.org/drawingml/2006/main">
              <a:ext uri="{FF2B5EF4-FFF2-40B4-BE49-F238E27FC236}">
                <a16:creationId xmlns:a16="http://schemas.microsoft.com/office/drawing/2014/main" id="{0E3AE85E-14EC-453C-BE85-83BA84EF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92" y="6309360"/>
            <a:ext cx="731502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20000"/>
              </a:lnSpc>
              <a:buNone/>
            </a:pPr>
            <a:r>
              <a:rPr sz="1300" b="1">
                <a:solidFill>
                  <a:srgbClr val="287A8D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618286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lement_d819a12ac90735708c093d76976a9d44">
            <a:extLst xmlns:a="http://schemas.openxmlformats.org/drawingml/2006/main">
              <a:ext uri="{FF2B5EF4-FFF2-40B4-BE49-F238E27FC236}">
                <a16:creationId xmlns:a16="http://schemas.microsoft.com/office/drawing/2014/main" id="{F725A524-7113-430F-84B4-16930DAC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09" y="445770"/>
            <a:ext cx="121917" cy="56921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87A8D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311ea078e96b6e93f136789f50e5d029">
            <a:extLst xmlns:a="http://schemas.openxmlformats.org/drawingml/2006/main">
              <a:ext uri="{FF2B5EF4-FFF2-40B4-BE49-F238E27FC236}">
                <a16:creationId xmlns:a16="http://schemas.microsoft.com/office/drawing/2014/main" id="{26C541BB-5518-4ED4-BBE0-D5D766C1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445770"/>
            <a:ext cx="5852014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500" b="1">
                <a:solidFill>
                  <a:srgbClr val="287A8D"/>
                </a:solidFill>
                <a:latin typeface="Courier New"/>
                <a:ea typeface="Courier New"/>
                <a:cs typeface="Courier New"/>
              </a:rPr>
              <a:t>REFERENCE PROOF / 06</a:t>
            </a:r>
          </a:p>
        </p:txBody>
      </p:sp>
      <p:sp>
        <p:nvSpPr>
          <p:cNvPr id="4" name="element_a2dbc9b09f7164bfff935aaef315c309">
            <a:extLst xmlns:a="http://schemas.openxmlformats.org/drawingml/2006/main">
              <a:ext uri="{FF2B5EF4-FFF2-40B4-BE49-F238E27FC236}">
                <a16:creationId xmlns:a16="http://schemas.microsoft.com/office/drawing/2014/main" id="{1F97F711-2B23-4E24-A59C-5D8F350B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1028700"/>
            <a:ext cx="9265688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3800" b="1">
                <a:solidFill>
                  <a:srgbClr val="17242B"/>
                </a:solidFill>
                <a:latin typeface="Arial"/>
                <a:ea typeface="Arial"/>
                <a:cs typeface="Arial"/>
              </a:rPr>
              <a:t>Real products remain evidence, not starter defaults.</a:t>
            </a:r>
          </a:p>
        </p:txBody>
      </p:sp>
      <p:sp>
        <p:nvSpPr>
          <p:cNvPr id="5" name="element_79141630d779b09a58e0729a9395f45e">
            <a:extLst xmlns:a="http://schemas.openxmlformats.org/drawingml/2006/main">
              <a:ext uri="{FF2B5EF4-FFF2-40B4-BE49-F238E27FC236}">
                <a16:creationId xmlns:a16="http://schemas.microsoft.com/office/drawing/2014/main" id="{E1FCC4B8-9B3B-4BDD-A5F0-BA526A5A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682" y="2743200"/>
            <a:ext cx="4876678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7719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000"/>
              </a:lnSpc>
              <a:buNone/>
            </a:pPr>
            <a:r>
              <a:rPr sz="1900">
                <a:solidFill>
                  <a:srgbClr val="60727B"/>
                </a:solidFill>
                <a:latin typeface="Arial"/>
                <a:ea typeface="Arial"/>
                <a:cs typeface="Arial"/>
              </a:rPr>
              <a:t>The retained Founder Quest reference shows that a domain product can keep its own artifact surface and proof while the shared NodeKit grammar stays neutral.</a:t>
            </a:r>
          </a:p>
        </p:txBody>
      </p:sp>
      <p:sp>
        <p:nvSpPr>
          <p:cNvPr id="6" name="element_93e78132357c4529dbf931f0211ced92">
            <a:extLst xmlns:a="http://schemas.openxmlformats.org/drawingml/2006/main">
              <a:ext uri="{FF2B5EF4-FFF2-40B4-BE49-F238E27FC236}">
                <a16:creationId xmlns:a16="http://schemas.microsoft.com/office/drawing/2014/main" id="{B29514F6-24E0-4FB9-9EB9-11F95739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682" y="4251960"/>
            <a:ext cx="4876678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700">
                <a:solidFill>
                  <a:srgbClr val="17242B"/>
                </a:solidFill>
                <a:latin typeface="Arial"/>
                <a:ea typeface="Arial"/>
                <a:cs typeface="Arial"/>
              </a:rPr>
              <a:t>01 Domain-specific UI stays in the app</a:t>
            </a:r>
          </a:p>
        </p:txBody>
      </p:sp>
      <p:sp>
        <p:nvSpPr>
          <p:cNvPr id="7" name="element_aed3b360e380f07c949f06a2edb23c8c">
            <a:extLst xmlns:a="http://schemas.openxmlformats.org/drawingml/2006/main">
              <a:ext uri="{FF2B5EF4-FFF2-40B4-BE49-F238E27FC236}">
                <a16:creationId xmlns:a16="http://schemas.microsoft.com/office/drawing/2014/main" id="{1A898787-C5B6-4729-8F77-E78F8323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682" y="4937760"/>
            <a:ext cx="4876678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700">
                <a:solidFill>
                  <a:srgbClr val="17242B"/>
                </a:solidFill>
                <a:latin typeface="Arial"/>
                <a:ea typeface="Arial"/>
                <a:cs typeface="Arial"/>
              </a:rPr>
              <a:t>02 Shared lifecycle stays portable</a:t>
            </a:r>
          </a:p>
        </p:txBody>
      </p:sp>
      <p:sp>
        <p:nvSpPr>
          <p:cNvPr id="8" name="element_38db63ea980ab8c44002d552e2a50808">
            <a:extLst xmlns:a="http://schemas.openxmlformats.org/drawingml/2006/main">
              <a:ext uri="{FF2B5EF4-FFF2-40B4-BE49-F238E27FC236}">
                <a16:creationId xmlns:a16="http://schemas.microsoft.com/office/drawing/2014/main" id="{AB44B6BF-0E6F-4593-97C0-79CA82F8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682" y="5623560"/>
            <a:ext cx="4876678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700">
                <a:solidFill>
                  <a:srgbClr val="17242B"/>
                </a:solidFill>
                <a:latin typeface="Arial"/>
                <a:ea typeface="Arial"/>
                <a:cs typeface="Arial"/>
              </a:rPr>
              <a:t>03 Production claims remain receipt-bound</a:t>
            </a:r>
          </a:p>
        </p:txBody>
      </p:sp>
      <p:pic>
        <p:nvPicPr>
          <p:cNvPr id="21" name="element_c5c18b1912be12123fb377ee9d25efb3 [static image fallback]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8719609614e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502" y="2674620"/>
            <a:ext cx="4754761" cy="2606040"/>
          </a:xfrm>
          <a:prstGeom xmlns:a="http://schemas.openxmlformats.org/drawingml/2006/main" prst="rect">
            <a:avLst/>
          </a:prstGeom>
        </p:spPr>
      </p:pic>
      <p:sp>
        <p:nvSpPr>
          <p:cNvPr id="10" name="element_d0e06834070fe67afcd7f813975560fa">
            <a:extLst xmlns:a="http://schemas.openxmlformats.org/drawingml/2006/main">
              <a:ext uri="{FF2B5EF4-FFF2-40B4-BE49-F238E27FC236}">
                <a16:creationId xmlns:a16="http://schemas.microsoft.com/office/drawing/2014/main" id="{9770EB20-9DA9-402B-85A8-0FB9F799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36" y="5417820"/>
            <a:ext cx="4267093" cy="4800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0000"/>
              </a:lnSpc>
              <a:buNone/>
            </a:pPr>
            <a:r>
              <a:rPr sz="1400">
                <a:solidFill>
                  <a:srgbClr val="60727B"/>
                </a:solidFill>
                <a:latin typeface="Arial"/>
                <a:ea typeface="Arial"/>
                <a:cs typeface="Arial"/>
              </a:rPr>
              <a:t>Reference screenshot; domain proof is not starter behavior.</a:t>
            </a:r>
          </a:p>
        </p:txBody>
      </p:sp>
      <p:sp>
        <p:nvSpPr>
          <p:cNvPr id="11" name="element_5ea62d3778782a772fa504dc394eabb3">
            <a:extLst xmlns:a="http://schemas.openxmlformats.org/drawingml/2006/main">
              <a:ext uri="{FF2B5EF4-FFF2-40B4-BE49-F238E27FC236}">
                <a16:creationId xmlns:a16="http://schemas.microsoft.com/office/drawing/2014/main" id="{422683AA-381E-4F02-92FA-C6DACECF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6377940"/>
            <a:ext cx="8778021" cy="2400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000">
                <a:solidFill>
                  <a:srgbClr val="60727B"/>
                </a:solidFill>
                <a:latin typeface="Courier New"/>
                <a:ea typeface="Courier New"/>
                <a:cs typeface="Courier New"/>
              </a:rPr>
              <a:t>NODEKIT  ·  FIGURED OUT  ·  PROOF-CARRYING</a:t>
            </a:r>
          </a:p>
        </p:txBody>
      </p:sp>
      <p:sp>
        <p:nvSpPr>
          <p:cNvPr id="12" name="element_d80442e1b065aaf959a92a5348a5ddc9">
            <a:extLst xmlns:a="http://schemas.openxmlformats.org/drawingml/2006/main">
              <a:ext uri="{FF2B5EF4-FFF2-40B4-BE49-F238E27FC236}">
                <a16:creationId xmlns:a16="http://schemas.microsoft.com/office/drawing/2014/main" id="{EA838DCE-ADAB-420F-B636-09CF1F81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92" y="6309360"/>
            <a:ext cx="731502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20000"/>
              </a:lnSpc>
              <a:buNone/>
            </a:pPr>
            <a:r>
              <a:rPr sz="1300" b="1">
                <a:solidFill>
                  <a:srgbClr val="287A8D"/>
                </a:solidFill>
                <a:latin typeface="Courier New"/>
                <a:ea typeface="Courier New"/>
                <a:cs typeface="Courier New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080839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lement_4c427d50d70e2878671ac7391fb8eae9">
            <a:extLst xmlns:a="http://schemas.openxmlformats.org/drawingml/2006/main">
              <a:ext uri="{FF2B5EF4-FFF2-40B4-BE49-F238E27FC236}">
                <a16:creationId xmlns:a16="http://schemas.microsoft.com/office/drawing/2014/main" id="{431960B0-B6EF-41BD-A532-305A2C3D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09" y="445770"/>
            <a:ext cx="121917" cy="56921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87A8D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344cc64204b82edbef41b98b9d6b3a27">
            <a:extLst xmlns:a="http://schemas.openxmlformats.org/drawingml/2006/main">
              <a:ext uri="{FF2B5EF4-FFF2-40B4-BE49-F238E27FC236}">
                <a16:creationId xmlns:a16="http://schemas.microsoft.com/office/drawing/2014/main" id="{381C7AEE-CD62-454F-8A25-8689EB7F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445770"/>
            <a:ext cx="5852014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500" b="1">
                <a:solidFill>
                  <a:srgbClr val="287A8D"/>
                </a:solidFill>
                <a:latin typeface="Courier New"/>
                <a:ea typeface="Courier New"/>
                <a:cs typeface="Courier New"/>
              </a:rPr>
              <a:t>BACKEND STRATEGY / 07</a:t>
            </a:r>
          </a:p>
        </p:txBody>
      </p:sp>
      <p:sp>
        <p:nvSpPr>
          <p:cNvPr id="4" name="element_b95b8d1d34ad1d4447f17f26d9e381d7">
            <a:extLst xmlns:a="http://schemas.openxmlformats.org/drawingml/2006/main">
              <a:ext uri="{FF2B5EF4-FFF2-40B4-BE49-F238E27FC236}">
                <a16:creationId xmlns:a16="http://schemas.microsoft.com/office/drawing/2014/main" id="{5FF8209D-8EE6-4F0D-9345-D34EAC91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1028700"/>
            <a:ext cx="9265688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3800" b="1">
                <a:solidFill>
                  <a:srgbClr val="17242B"/>
                </a:solidFill>
                <a:latin typeface="Arial"/>
                <a:ea typeface="Arial"/>
                <a:cs typeface="Arial"/>
              </a:rPr>
              <a:t>Convex is the golden adapter, not the semantic definition.</a:t>
            </a:r>
          </a:p>
        </p:txBody>
      </p:sp>
      <p:sp>
        <p:nvSpPr>
          <p:cNvPr id="5" name="element_b9145fccfc975fe4640cb691d4c97d0f">
            <a:extLst xmlns:a="http://schemas.openxmlformats.org/drawingml/2006/main">
              <a:ext uri="{FF2B5EF4-FFF2-40B4-BE49-F238E27FC236}">
                <a16:creationId xmlns:a16="http://schemas.microsoft.com/office/drawing/2014/main" id="{FBBF3EC1-0910-4BDB-8CC9-8FD3CF3E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2743200"/>
            <a:ext cx="4754761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4823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000"/>
              </a:lnSpc>
              <a:buNone/>
            </a:pPr>
            <a:r>
              <a:rPr sz="1900">
                <a:solidFill>
                  <a:srgbClr val="60727B"/>
                </a:solidFill>
                <a:latin typeface="Arial"/>
                <a:ea typeface="Arial"/>
                <a:cs typeface="Arial"/>
              </a:rPr>
              <a:t>NodeKit owns portable Caseflow semantics. Convex supplies the first-class reactive implementation; future Postgres and Supabase adapters must pass the same observable conformance.</a:t>
            </a:r>
          </a:p>
        </p:txBody>
      </p:sp>
      <p:sp>
        <p:nvSpPr>
          <p:cNvPr id="6" name="element_8d56a53dc9aaf9d739e3d34115bb6f1e">
            <a:extLst xmlns:a="http://schemas.openxmlformats.org/drawingml/2006/main">
              <a:ext uri="{FF2B5EF4-FFF2-40B4-BE49-F238E27FC236}">
                <a16:creationId xmlns:a16="http://schemas.microsoft.com/office/drawing/2014/main" id="{20964B74-C18F-4359-9BDB-CE6A9FD9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4251960"/>
            <a:ext cx="4754761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700">
                <a:solidFill>
                  <a:srgbClr val="17242B"/>
                </a:solidFill>
                <a:latin typeface="Arial"/>
                <a:ea typeface="Arial"/>
                <a:cs typeface="Arial"/>
              </a:rPr>
              <a:t>01 Memory conformance: passing</a:t>
            </a:r>
          </a:p>
        </p:txBody>
      </p:sp>
      <p:sp>
        <p:nvSpPr>
          <p:cNvPr id="7" name="element_81fb879e277f0f1bd3cebd6093ae4a80">
            <a:extLst xmlns:a="http://schemas.openxmlformats.org/drawingml/2006/main">
              <a:ext uri="{FF2B5EF4-FFF2-40B4-BE49-F238E27FC236}">
                <a16:creationId xmlns:a16="http://schemas.microsoft.com/office/drawing/2014/main" id="{ED83CC2E-2AB4-438A-ABAA-17E9F4D0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4937760"/>
            <a:ext cx="4754761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700">
                <a:solidFill>
                  <a:srgbClr val="17242B"/>
                </a:solidFill>
                <a:latin typeface="Arial"/>
                <a:ea typeface="Arial"/>
                <a:cs typeface="Arial"/>
              </a:rPr>
              <a:t>02 Convex extraction: gated by reuse</a:t>
            </a:r>
          </a:p>
        </p:txBody>
      </p:sp>
      <p:sp>
        <p:nvSpPr>
          <p:cNvPr id="8" name="element_019fc938330310aec0b95bb87bf8e8e0">
            <a:extLst xmlns:a="http://schemas.openxmlformats.org/drawingml/2006/main">
              <a:ext uri="{FF2B5EF4-FFF2-40B4-BE49-F238E27FC236}">
                <a16:creationId xmlns:a16="http://schemas.microsoft.com/office/drawing/2014/main" id="{D380B356-2565-4915-8906-67E964DB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5623560"/>
            <a:ext cx="4754761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700">
                <a:solidFill>
                  <a:srgbClr val="17242B"/>
                </a:solidFill>
                <a:latin typeface="Arial"/>
                <a:ea typeface="Arial"/>
                <a:cs typeface="Arial"/>
              </a:rPr>
              <a:t>03 No premature all-in-one component</a:t>
            </a:r>
          </a:p>
        </p:txBody>
      </p:sp>
      <p:sp>
        <p:nvSpPr>
          <p:cNvPr id="9" name="element_5471a325626183335f88fae06c0a01bb">
            <a:extLst xmlns:a="http://schemas.openxmlformats.org/drawingml/2006/main">
              <a:ext uri="{FF2B5EF4-FFF2-40B4-BE49-F238E27FC236}">
                <a16:creationId xmlns:a16="http://schemas.microsoft.com/office/drawing/2014/main" id="{864971E0-9DF6-408E-899E-2C42682E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598" y="2880360"/>
            <a:ext cx="4754761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0" tIns="254000" rIns="254000" bIns="254000" anchor="ctr">
            <a:normAutofit fontScale="72142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3000" b="1">
                <a:solidFill>
                  <a:srgbClr val="15554E"/>
                </a:solidFill>
                <a:latin typeface="Courier New"/>
                <a:ea typeface="Courier New"/>
                <a:cs typeface="Courier New"/>
              </a:rPr>
              <a:t>portable protocol → provider adapter → native acceleration</a:t>
            </a:r>
          </a:p>
        </p:txBody>
      </p:sp>
      <p:sp>
        <p:nvSpPr>
          <p:cNvPr id="10" name="element_68f5fc0ba60515c2e376464e2aac49a3">
            <a:extLst xmlns:a="http://schemas.openxmlformats.org/drawingml/2006/main">
              <a:ext uri="{FF2B5EF4-FFF2-40B4-BE49-F238E27FC236}">
                <a16:creationId xmlns:a16="http://schemas.microsoft.com/office/drawing/2014/main" id="{32D45C28-1D1E-463D-8D6A-8EDCA780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6377940"/>
            <a:ext cx="8778021" cy="2400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000">
                <a:solidFill>
                  <a:srgbClr val="60727B"/>
                </a:solidFill>
                <a:latin typeface="Courier New"/>
                <a:ea typeface="Courier New"/>
                <a:cs typeface="Courier New"/>
              </a:rPr>
              <a:t>NODEKIT  ·  FIGURED OUT  ·  PROOF-CARRYING</a:t>
            </a:r>
          </a:p>
        </p:txBody>
      </p:sp>
      <p:sp>
        <p:nvSpPr>
          <p:cNvPr id="11" name="element_d0cedd0c0a045cab8898d86d49a6d4f5">
            <a:extLst xmlns:a="http://schemas.openxmlformats.org/drawingml/2006/main">
              <a:ext uri="{FF2B5EF4-FFF2-40B4-BE49-F238E27FC236}">
                <a16:creationId xmlns:a16="http://schemas.microsoft.com/office/drawing/2014/main" id="{4A030EF1-2285-4B67-83FA-BD3613AC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92" y="6309360"/>
            <a:ext cx="731502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20000"/>
              </a:lnSpc>
              <a:buNone/>
            </a:pPr>
            <a:r>
              <a:rPr sz="1300" b="1">
                <a:solidFill>
                  <a:srgbClr val="287A8D"/>
                </a:solidFill>
                <a:latin typeface="Courier New"/>
                <a:ea typeface="Courier New"/>
                <a:cs typeface="Courier New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012303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lement_9340e0e93b211e48c60363c785e970da">
            <a:extLst xmlns:a="http://schemas.openxmlformats.org/drawingml/2006/main">
              <a:ext uri="{FF2B5EF4-FFF2-40B4-BE49-F238E27FC236}">
                <a16:creationId xmlns:a16="http://schemas.microsoft.com/office/drawing/2014/main" id="{8F39B859-8FB7-4039-B926-BE4727B2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09" y="445770"/>
            <a:ext cx="121917" cy="56921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87A8D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c13c517f476e3bfa4f0af6865bcdccd4">
            <a:extLst xmlns:a="http://schemas.openxmlformats.org/drawingml/2006/main">
              <a:ext uri="{FF2B5EF4-FFF2-40B4-BE49-F238E27FC236}">
                <a16:creationId xmlns:a16="http://schemas.microsoft.com/office/drawing/2014/main" id="{7A385D1A-4D32-4854-803F-04C88E9C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445770"/>
            <a:ext cx="5852014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500" b="1">
                <a:solidFill>
                  <a:srgbClr val="287A8D"/>
                </a:solidFill>
                <a:latin typeface="Courier New"/>
                <a:ea typeface="Courier New"/>
                <a:cs typeface="Courier New"/>
              </a:rPr>
              <a:t>DECISION / 08</a:t>
            </a:r>
          </a:p>
        </p:txBody>
      </p:sp>
      <p:sp>
        <p:nvSpPr>
          <p:cNvPr id="4" name="element_a4fae4ac9cf1ce92b893d827155c2212">
            <a:extLst xmlns:a="http://schemas.openxmlformats.org/drawingml/2006/main">
              <a:ext uri="{FF2B5EF4-FFF2-40B4-BE49-F238E27FC236}">
                <a16:creationId xmlns:a16="http://schemas.microsoft.com/office/drawing/2014/main" id="{CEC0C9A3-70DA-4B05-8B55-52A9A02F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1028700"/>
            <a:ext cx="9265688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3800" b="1">
                <a:solidFill>
                  <a:srgbClr val="17242B"/>
                </a:solidFill>
                <a:latin typeface="Arial"/>
                <a:ea typeface="Arial"/>
                <a:cs typeface="Arial"/>
              </a:rPr>
              <a:t>Ship the stable grammar. Extract infrastructure after repetition.</a:t>
            </a:r>
          </a:p>
        </p:txBody>
      </p:sp>
      <p:sp>
        <p:nvSpPr>
          <p:cNvPr id="5" name="element_48ca75052099aae6039680230e7d8af4">
            <a:extLst xmlns:a="http://schemas.openxmlformats.org/drawingml/2006/main">
              <a:ext uri="{FF2B5EF4-FFF2-40B4-BE49-F238E27FC236}">
                <a16:creationId xmlns:a16="http://schemas.microsoft.com/office/drawing/2014/main" id="{EDD88076-1F5D-400B-B80E-C5AEE8CB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2743200"/>
            <a:ext cx="4754761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7719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000"/>
              </a:lnSpc>
              <a:buNone/>
            </a:pPr>
            <a:r>
              <a:rPr sz="1900">
                <a:solidFill>
                  <a:srgbClr val="60727B"/>
                </a:solidFill>
                <a:latin typeface="Arial"/>
                <a:ea typeface="Arial"/>
                <a:cs typeface="Arial"/>
              </a:rPr>
              <a:t>The neutral factory, responsive experience, portable Caseflow, and ProofLoop candidate binding are ready to review as one coherent change.</a:t>
            </a:r>
          </a:p>
        </p:txBody>
      </p:sp>
      <p:sp>
        <p:nvSpPr>
          <p:cNvPr id="6" name="element_a1ca5640e88c8f2f2cfea514886d21c4">
            <a:extLst xmlns:a="http://schemas.openxmlformats.org/drawingml/2006/main">
              <a:ext uri="{FF2B5EF4-FFF2-40B4-BE49-F238E27FC236}">
                <a16:creationId xmlns:a16="http://schemas.microsoft.com/office/drawing/2014/main" id="{4C1FA5BA-E006-4836-8A67-92905A05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4251960"/>
            <a:ext cx="4754761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700">
                <a:solidFill>
                  <a:srgbClr val="17242B"/>
                </a:solidFill>
                <a:latin typeface="Arial"/>
                <a:ea typeface="Arial"/>
                <a:cs typeface="Arial"/>
              </a:rPr>
              <a:t>01 Create one neutral application</a:t>
            </a:r>
          </a:p>
        </p:txBody>
      </p:sp>
      <p:sp>
        <p:nvSpPr>
          <p:cNvPr id="7" name="element_f46d7381acf5fdb79fc2424b56adba2b">
            <a:extLst xmlns:a="http://schemas.openxmlformats.org/drawingml/2006/main">
              <a:ext uri="{FF2B5EF4-FFF2-40B4-BE49-F238E27FC236}">
                <a16:creationId xmlns:a16="http://schemas.microsoft.com/office/drawing/2014/main" id="{8BDF8731-8655-41CF-8932-9181FAC1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4937760"/>
            <a:ext cx="4754761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700">
                <a:solidFill>
                  <a:srgbClr val="17242B"/>
                </a:solidFill>
                <a:latin typeface="Arial"/>
                <a:ea typeface="Arial"/>
                <a:cs typeface="Arial"/>
              </a:rPr>
              <a:t>02 Review proposals before apply</a:t>
            </a:r>
          </a:p>
        </p:txBody>
      </p:sp>
      <p:sp>
        <p:nvSpPr>
          <p:cNvPr id="8" name="element_bd3c89612de07b02f5f35d4ac990bdab">
            <a:extLst xmlns:a="http://schemas.openxmlformats.org/drawingml/2006/main">
              <a:ext uri="{FF2B5EF4-FFF2-40B4-BE49-F238E27FC236}">
                <a16:creationId xmlns:a16="http://schemas.microsoft.com/office/drawing/2014/main" id="{45740728-95A9-4E4D-AD29-E6D5FC24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5623560"/>
            <a:ext cx="4754761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700">
                <a:solidFill>
                  <a:srgbClr val="17242B"/>
                </a:solidFill>
                <a:latin typeface="Arial"/>
                <a:ea typeface="Arial"/>
                <a:cs typeface="Arial"/>
              </a:rPr>
              <a:t>03 Bind completion to proof</a:t>
            </a:r>
          </a:p>
        </p:txBody>
      </p:sp>
      <p:sp>
        <p:nvSpPr>
          <p:cNvPr id="9" name="element_48ac23793e908070839a4dc17cd52235">
            <a:extLst xmlns:a="http://schemas.openxmlformats.org/drawingml/2006/main">
              <a:ext uri="{FF2B5EF4-FFF2-40B4-BE49-F238E27FC236}">
                <a16:creationId xmlns:a16="http://schemas.microsoft.com/office/drawing/2014/main" id="{A752EE8B-DAC8-4ADF-BE3B-F7E181F5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598" y="2880360"/>
            <a:ext cx="4754761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0" tIns="254000" rIns="254000" bIns="254000" anchor="ctr">
            <a:normAutofit fontScale="97546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3000" b="1">
                <a:solidFill>
                  <a:srgbClr val="15554E"/>
                </a:solidFill>
                <a:latin typeface="Courier New"/>
                <a:ea typeface="Courier New"/>
                <a:cs typeface="Courier New"/>
              </a:rPr>
              <a:t>intent ↔ artifact ↔ decision ↔ receipt</a:t>
            </a:r>
          </a:p>
        </p:txBody>
      </p:sp>
      <p:sp>
        <p:nvSpPr>
          <p:cNvPr id="10" name="element_de5708ba0eba721d4a083cc108085a7b">
            <a:extLst xmlns:a="http://schemas.openxmlformats.org/drawingml/2006/main">
              <a:ext uri="{FF2B5EF4-FFF2-40B4-BE49-F238E27FC236}">
                <a16:creationId xmlns:a16="http://schemas.microsoft.com/office/drawing/2014/main" id="{79D1DABF-DA15-441D-8C02-9A792533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9" y="6377940"/>
            <a:ext cx="8778021" cy="2400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000">
                <a:solidFill>
                  <a:srgbClr val="60727B"/>
                </a:solidFill>
                <a:latin typeface="Courier New"/>
                <a:ea typeface="Courier New"/>
                <a:cs typeface="Courier New"/>
              </a:rPr>
              <a:t>NODEKIT  ·  FIGURED OUT  ·  PROOF-CARRYING</a:t>
            </a:r>
          </a:p>
        </p:txBody>
      </p:sp>
      <p:sp>
        <p:nvSpPr>
          <p:cNvPr id="11" name="element_2193ba4880cf411905fc4a2338641e01">
            <a:extLst xmlns:a="http://schemas.openxmlformats.org/drawingml/2006/main">
              <a:ext uri="{FF2B5EF4-FFF2-40B4-BE49-F238E27FC236}">
                <a16:creationId xmlns:a16="http://schemas.microsoft.com/office/drawing/2014/main" id="{BE7B10C2-D861-42A2-A261-119C5E6D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92" y="6309360"/>
            <a:ext cx="731502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20000"/>
              </a:lnSpc>
              <a:buNone/>
            </a:pPr>
            <a:r>
              <a:rPr sz="1300" b="1">
                <a:solidFill>
                  <a:srgbClr val="287A8D"/>
                </a:solidFill>
                <a:latin typeface="Courier New"/>
                <a:ea typeface="Courier New"/>
                <a:cs typeface="Courier New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1367475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ist Variab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2026-07-21T20:10:26.2620000Z</dcterms:created>
  <dcterms:modified xsi:type="dcterms:W3CDTF">2026-07-21T20:10:26.2620000Z</dcterms:modified>
</coreProperties>
</file>