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Signal</c:v>
                </c:pt>
              </c:strCache>
            </c:strRef>
          </c:tx>
          <c:spPr>
            <a:solidFill>
              <a:srgbClr val="287A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reward attacks</c:v>
                  </c:pt>
                  <c:pt idx="1">
                    <c:v>heldout tasks</c:v>
                  </c:pt>
                  <c:pt idx="2">
                    <c:v>fallbacks</c:v>
                  </c:pt>
                </c:lvl>
              </c:multiLvlStrCache>
            </c:multiLvlStrRef>
          </c:cat>
          <c:val>
            <c:numRef>
              <c:f>Sheet1!$B$2:$B$4</c:f>
              <c:numCache>
                <c:formatCode>General</c:formatCode>
                <c:ptCount val="3"/>
                <c:pt idx="0">
                  <c:v>9</c:v>
                </c:pt>
                <c:pt idx="1">
                  <c:v>2</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0727B"/>
                </a:solidFill>
                <a:latin typeface="JetBrains Mono Variable"/>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0727B"/>
                </a:solidFill>
                <a:latin typeface="JetBrains Mono Variable"/>
              </a:defRPr>
            </a:pPr>
            <a:endParaRPr lang="en-US"/>
          </a:p>
        </c:txPr>
        <c:crossAx val="2094734554"/>
        <c:crosses val="autoZero"/>
        <c:crossBetween val="between"/>
      </c:valAx>
      <c:spPr>
        <a:noFill/>
        <a:ln>
          <a:noFill/>
        </a:ln>
        <a:effectLst/>
      </c:spPr>
    </c:plotArea>
    <c:plotVisOnly val="1"/>
    <c:dispBlanksAs val="span"/>
  </c:chart>
  <c:spPr>
    <a:solidFill>
      <a:srgbClr val="DCECF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Open on the outcome, not the component inventory. NodeKit is the portable contract
and certification path around an agent application. The factory receipt is the first
anchor.
Evidence IDs: E1_FACTORY_ACCEPTANCE, E2_NODEKIT_RELEASE.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Explain the failure class: a benchmark can call a different planner than production;
a UI can show a plausible answer without durable state; a release can cite a test
that was not run against the deployed revision. NodeKit compiles these paths from the
same definition and records where parity is still absent.
Evidence IDs: none; planned content only.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Use the exact 37.221-second deterministic acceptance result. Two independently
generated candidate repositories were installed, compiled twice for reproducibility,
committed, run, evaluated, benchmarked, and proof-checked. Do not call this a cloud or
production benchmark.
Evidence IDs: E1_FACTORY_ACCEPTANCE, E2_NODEKIT_RELEASE.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Show the synthetic Casca FDE lab. Highlight graph-aware blocker explanation, proposal
review, reload persistence, one bounded live model call, export/reopen, and the explicit
absence of an automated credit decision. State clearly that deployment is the missing
release gate.
Evidence IDs: E3_CASCA_RELEASE, E4_CASCA_BROWSER, E5_CASCA_LIVE.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The present baseline is behavior cloning, not RL. The important product result is the
step trajectory, protected reward, adversarial suite, heldout boundary, and a live route
that failed closed instead of silently weakening its privacy policy. The next scientific
milestone is a larger preregistered corpus and a shadow-only trained-policy comparison.
Evidence IDs: E6_RL_RELEASE, E7_RL_HELDOUT, E8_RL_LIVE_BLOCKED, E11_RL_CI.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The public read-only synthetic product passed all 15 hosted checks on source commit
dc5fba2467576d5ded3d3ac6bf4d142316410c86 and evidence commit
04579137a85f4ce18db61e6e7c0f25ff7b1d42b6. The same app/config hash is
973ea7cbd8039e963bab1ff604bc0180bf0457f9a334b9b9dc0f77062f103e20, and the graph
revision is ng1_c9334138. Four isolated desktop/mobile light/dark contexts recorded
zero browser, network, or cross-origin errors. The unified release receipt is
production-certified, release-ready, and hosted-deployment-certified; a fresh Windows
worktree verified all 25 artifact-manifest hashes byte-for-byte. The final independent
release re-audit found zero remaining issues, and the suite passed 18/18 tests. Keep
the boundary explicit: the journey is synthetic and read-only, with no durable writes
or remote Neo4j writes, and it does not prove external approval.
Evidence IDs: E12_FOUNDER_QUEST_PRODUCTION, E13_FOUNDER_QUEST_RELEASE.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Anthropic's rare-disease grant announcement is an external scenario, not an affiliation.
Explain how NodeKit would construct the latest-research ledger, novelty graph, benchmark,
Claude-credit plan, and application packet while keeping scientific and clinical authority
with qualified researchers and professionals.
Evidence IDs: E9_ANTHROPIC_GRANT_SOURCE.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MEDIA-BOUND FINAL — publication remains a separate receipt gate.
Name the graph: research, build, evaluation, proof, presentation, distribution, feedback,
and memory. The graph is credible only when it resolves to current sources, exact commits,
fresh-browser evidence, exports, public URLs, and observed response. Invite researchers,
builders, and domain operators to bring one bounded consequential workflow. Close on a
falsifiable promise: the system should expose what passed, what failed, what is local,
and what still needs a human.
Evidence IDs: E1_FACTORY_ACCEPTANCE, E2_NODEKIT_RELEASE, E4_CASCA_BROWSER, E10_GRAPH_OF_LOOPS_SOURCE.
NodeSlide sources
[source_c44bd49bf7a3a585758e0ad53a6b6976]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Both walkthrough videos are verified and hash-bound; publication remains a separate receipt gate.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[source_6b4cf689acf2b4a85799fa0170b871c3] github.com · supplied source 1
Citation: https://github.com/HomenShum/node-platform/releases/tag/v0.2.0
URL: https://github.com/HomenShum/node-platform/releases/tag/v0.2.0
Disclaimer: User-supplied linked evidence; verify reuse rights before external publication.
[source_5a7a15da243337782e46ca48c3c1aece]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[source_9282cfc0006c078f0af4300c9cef5178] anthropic.com · supplied source 3
Citation: https://www.anthropic.com/news/rare-disease-research-grants
URL: https://www.anthropic.com/news/rare-disease-research-grants
Disclaimer: User-supplied linked evidence; verify reuse rights before external publication.
[source_bc218f024141079d7de141ae1e965e34]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[source_d180607bdac7f679a19c7768867645db] github.com · supplied source 5
Citation: https://github.com/HomenShum/agentic-rl-research-lab/actions/runs/29799453044
URL: https://github.com/HomenShum/agentic-rl-research-lab/actions/runs/29799453044
Disclaimer: User-supplied linked evidence; verify reuse rights before external publication.
[source_d8ea0ffc72f62ef4670e518db54b5b92] founder-quest-graph.vercel.app · supplied source 6
Citation: https://founder-quest-graph.vercel.app/
URL: https://founder-quest-graph.vercel.app/
Disclaimer: User-supplied linked evidence; verify reuse rights before external publication.
[source_f35d5d81a45909c94062d47fd8a1a1f7]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[source_ae2a432e25f101a2a607e32a89c668b3]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"evidenceIds": [
          "E14_FOUNDER_QUEST_VIDEO_PROOF"
        ],
        "id": "C9_MEDIA_PROOF",
        "limitations": [
          "Both videos use silent AAC tracks and burned-in captions.",
          "The walkthrough proves one synthetic read-only production journey, not an external outcome or publication."
        ],
        "scope": {
          "campaignCommit": "f002870ab08faaf992677589216d4384211fd1e1",
          "technicalSha256": "b3b10fcc7ed9bce329aa608ae42294886d6db9b6ff1882bd34e2873ffc1b7ea1",
          "verticalSha256": "7733c39be6493807459c018931130ccbfed02a6d27659c5a28d60e971591b31d"
        },
        "status": "verified",
        "text": "NodeKit produced and verified an 83-second vertical walkthrough and a 180-second technical walkthrough from the exact Founder Quest production capture, with burned-in narrative text and content-addressed receipts."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[source_85565808909cf50cac36ba4cb92d6297]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"assets": [
        {
          "bytes": 9958725,
          "dimensions": "1080x1920",
          "durationSeconds": 83.050667,
          "path": "changes/nodekit-proof-campaign-2026-07-20/video/output/nodekit-founder-quest-vertical.mp4",
          "sha256": "7733c39be6493807459c018931130ccbfed02a6d27659c5a28d60e971591b31d"
        },
        {
          "bytes": 23406403,
          "dimensions": "1920x1080",
          "durationSeconds": 180.053333,
          "path": "changes/nodekit-proof-campaign-2026-07-20/video/output/nodekit-founder-quest-technical.mp4",
          "sha256": "b3b10fcc7ed9bce329aa608ae42294886d6db9b6ff1882bd34e2873ffc1b7ea1"
        }
      ],
      "id": "E14_FOUNDER_QUEST_VIDEO_PROOF",
      "kind": "media-proof",
      "path": "changes/nodekit-proof-campaign-2026-07-20/video/proof/founder-quest-video-receipt.json",
      "scope": "Feature Proof Studio @ 7aafb3e0a48f3c1e74e69a51d9df506186ea4340; exact Founder Quest deployment dpl_z1dRn48GFzZYuEyBq6oDNKPHdUHP; sampled encoded-frame visual QA passed",
      "sha256": "d6371b27e858ed4f32c9904c9ed00a64f1acfa69155ad9a2f9af71f59f365f2e",
      "visualQaPath": "changes/nodekit-proof-campaign-2026-07-20/video/proof/founder-quest-media-visual-qa.json",
      "visualQaSha256": "32f31f2746c9d5032267c0997df074e717cd30a50aae35cd4ef6c6e7132ead15"
    }
  ],
  "schemaVersion": "nodekit.evidence-index/v1"
}
Disclaimer: User supplied
[source_59b18beceb424163b737f072a159dd1f]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7F8"/>
        </a:solidFill>
      </p:bgPr>
    </p:bg>
    <p:spTree>
      <p:nvGrpSpPr>
        <p:cNvPr id="1" name=""/>
        <p:cNvGrpSpPr/>
        <p:nvPr/>
      </p:nvGrpSpPr>
      <p:grpSpPr>
        <a:xfrm>
          <a:off x="0" y="0"/>
          <a:ext cx="0" cy="0"/>
          <a:chOff x="0" y="0"/>
          <a:chExt cx="0" cy="0"/>
        </a:xfrm>
      </p:grpSpPr>
      <p:sp>
        <p:nvSpPr>
          <p:cNvPr id="2" name="element_2353766b7264ee7bdb5bdc9aece79a23"/>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f10050eaf08105f3b088f488c3e62213"/>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OPENING / 01</a:t>
            </a:r>
            <a:endParaRPr lang="en-US" sz="1500" dirty="0"/>
          </a:p>
        </p:txBody>
      </p:sp>
      <p:sp>
        <p:nvSpPr>
          <p:cNvPr id="4" name="element_08666292d034d20b5c786664ea01945f"/>
          <p:cNvSpPr txBox="1"/>
          <p:nvPr/>
        </p:nvSpPr>
        <p:spPr>
          <a:xfrm>
            <a:off x="853419" y="1028700"/>
            <a:ext cx="9631439" cy="1851660"/>
          </a:xfrm>
          <a:prstGeom prst="rect">
            <a:avLst/>
          </a:prstGeom>
          <a:noFill/>
          <a:ln/>
        </p:spPr>
        <p:txBody>
          <a:bodyPr wrap="square" lIns="0" tIns="0" rIns="0" bIns="0" rtlCol="0" anchor="t">
            <a:normAutofit/>
          </a:bodyPr>
          <a:lstStyle/>
          <a:p>
            <a:pPr algn="l" indent="0" marL="0">
              <a:lnSpc>
                <a:spcPct val="104000"/>
              </a:lnSpc>
              <a:buNone/>
            </a:pPr>
            <a:r>
              <a:rPr lang="en-US" sz="4800" b="1" spc="-80" kern="0" dirty="0">
                <a:solidFill>
                  <a:srgbClr val="17242B"/>
                </a:solidFill>
                <a:latin typeface="Arial" pitchFamily="34" charset="0"/>
                <a:ea typeface="Arial" pitchFamily="34" charset="-122"/>
                <a:cs typeface="Arial" pitchFamily="34" charset="-120"/>
              </a:rPr>
              <a:t>Empty directory. Proof-carrying application.</a:t>
            </a:r>
            <a:endParaRPr lang="en-US" sz="4800" dirty="0"/>
          </a:p>
        </p:txBody>
      </p:sp>
      <p:sp>
        <p:nvSpPr>
          <p:cNvPr id="5" name="element_b852bc502111710e81b7fd6efb839485"/>
          <p:cNvSpPr txBox="1"/>
          <p:nvPr/>
        </p:nvSpPr>
        <p:spPr>
          <a:xfrm>
            <a:off x="853419" y="3291840"/>
            <a:ext cx="8046519" cy="116586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One manifest connects runtime, evaluation, browser QA, and proof.</a:t>
            </a:r>
            <a:endParaRPr lang="en-US" sz="1900" dirty="0"/>
          </a:p>
        </p:txBody>
      </p:sp>
      <p:sp>
        <p:nvSpPr>
          <p:cNvPr id="6" name="element_1080a8f0cb32a82edb683776773616be"/>
          <p:cNvSpPr txBox="1"/>
          <p:nvPr/>
        </p:nvSpPr>
        <p:spPr>
          <a:xfrm>
            <a:off x="853419" y="4937760"/>
            <a:ext cx="3047924" cy="548640"/>
          </a:xfrm>
          <a:prstGeom prst="rect">
            <a:avLst/>
          </a:prstGeom>
          <a:noFill/>
          <a:ln/>
        </p:spPr>
        <p:txBody>
          <a:bodyPr wrap="square" lIns="0" tIns="0" rIns="0" bIns="0" rtlCol="0" anchor="t">
            <a:normAutofit/>
          </a:bodyPr>
          <a:lstStyle/>
          <a:p>
            <a:pPr algn="l" indent="0" marL="0">
              <a:lnSpc>
                <a:spcPct val="120000"/>
              </a:lnSpc>
              <a:buNone/>
            </a:pPr>
            <a:r>
              <a:rPr lang="en-US" sz="1600" dirty="0">
                <a:solidFill>
                  <a:srgbClr val="17242B"/>
                </a:solidFill>
                <a:latin typeface="Arial" pitchFamily="34" charset="0"/>
                <a:ea typeface="Arial" pitchFamily="34" charset="-122"/>
                <a:cs typeface="Arial" pitchFamily="34" charset="-120"/>
              </a:rPr>
              <a:t>•  Two presets; one path</a:t>
            </a:r>
            <a:endParaRPr lang="en-US" sz="1600" dirty="0"/>
          </a:p>
        </p:txBody>
      </p:sp>
      <p:sp>
        <p:nvSpPr>
          <p:cNvPr id="7" name="element_1cfdb1efb89ed49d7e502333edc97fb7"/>
          <p:cNvSpPr txBox="1"/>
          <p:nvPr/>
        </p:nvSpPr>
        <p:spPr>
          <a:xfrm>
            <a:off x="4267093" y="4937760"/>
            <a:ext cx="3047924" cy="548640"/>
          </a:xfrm>
          <a:prstGeom prst="rect">
            <a:avLst/>
          </a:prstGeom>
          <a:noFill/>
          <a:ln/>
        </p:spPr>
        <p:txBody>
          <a:bodyPr wrap="square" lIns="0" tIns="0" rIns="0" bIns="0" rtlCol="0" anchor="t">
            <a:normAutofit/>
          </a:bodyPr>
          <a:lstStyle/>
          <a:p>
            <a:pPr algn="l" indent="0" marL="0">
              <a:lnSpc>
                <a:spcPct val="120000"/>
              </a:lnSpc>
              <a:buNone/>
            </a:pPr>
            <a:r>
              <a:rPr lang="en-US" sz="1600" dirty="0">
                <a:solidFill>
                  <a:srgbClr val="17242B"/>
                </a:solidFill>
                <a:latin typeface="Arial" pitchFamily="34" charset="0"/>
                <a:ea typeface="Arial" pitchFamily="34" charset="-122"/>
                <a:cs typeface="Arial" pitchFamily="34" charset="-120"/>
              </a:rPr>
              <a:t>•  Local run: 37.221 s</a:t>
            </a:r>
            <a:endParaRPr lang="en-US" sz="1600" dirty="0"/>
          </a:p>
        </p:txBody>
      </p:sp>
      <p:sp>
        <p:nvSpPr>
          <p:cNvPr id="8" name="element_9f32d4c4a56cad7f61e936a63c3451f9"/>
          <p:cNvSpPr txBox="1"/>
          <p:nvPr/>
        </p:nvSpPr>
        <p:spPr>
          <a:xfrm>
            <a:off x="7680768" y="4937760"/>
            <a:ext cx="3047924" cy="548640"/>
          </a:xfrm>
          <a:prstGeom prst="rect">
            <a:avLst/>
          </a:prstGeom>
          <a:noFill/>
          <a:ln/>
        </p:spPr>
        <p:txBody>
          <a:bodyPr wrap="square" lIns="0" tIns="0" rIns="0" bIns="0" rtlCol="0" anchor="t">
            <a:normAutofit/>
          </a:bodyPr>
          <a:lstStyle/>
          <a:p>
            <a:pPr algn="l" indent="0" marL="0">
              <a:lnSpc>
                <a:spcPct val="120000"/>
              </a:lnSpc>
              <a:buNone/>
            </a:pPr>
            <a:r>
              <a:rPr lang="en-US" sz="1600" dirty="0">
                <a:solidFill>
                  <a:srgbClr val="17242B"/>
                </a:solidFill>
                <a:latin typeface="Arial" pitchFamily="34" charset="0"/>
                <a:ea typeface="Arial" pitchFamily="34" charset="-122"/>
                <a:cs typeface="Arial" pitchFamily="34" charset="-120"/>
              </a:rPr>
              <a:t>•  GitHub source; npm blocked</a:t>
            </a:r>
            <a:endParaRPr lang="en-US" sz="1600" dirty="0"/>
          </a:p>
        </p:txBody>
      </p:sp>
      <p:sp>
        <p:nvSpPr>
          <p:cNvPr id="9" name="element_adf06f28096ad78b30d958e009f60216"/>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0" name="element_0f03ca6bd6169213f713a507b385e6c7"/>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8"/>
        </a:solidFill>
      </p:bgPr>
    </p:bg>
    <p:spTree>
      <p:nvGrpSpPr>
        <p:cNvPr id="1" name=""/>
        <p:cNvGrpSpPr/>
        <p:nvPr/>
      </p:nvGrpSpPr>
      <p:grpSpPr>
        <a:xfrm>
          <a:off x="0" y="0"/>
          <a:ext cx="0" cy="0"/>
          <a:chOff x="0" y="0"/>
          <a:chExt cx="0" cy="0"/>
        </a:xfrm>
      </p:grpSpPr>
      <p:sp>
        <p:nvSpPr>
          <p:cNvPr id="2" name="element_ac4145dbd4fdc018000e2999fe5c59b6"/>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29ef38175abb49765690d237b3acb36e"/>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STAKES / 02</a:t>
            </a:r>
            <a:endParaRPr lang="en-US" sz="1500" dirty="0"/>
          </a:p>
        </p:txBody>
      </p:sp>
      <p:sp>
        <p:nvSpPr>
          <p:cNvPr id="4" name="element_627b9ceb6a195bced4dd9dc740de4d5e"/>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The hard part is keeping every proof gate on one execution path.</a:t>
            </a:r>
            <a:endParaRPr lang="en-US" sz="3800" dirty="0"/>
          </a:p>
        </p:txBody>
      </p:sp>
      <p:sp>
        <p:nvSpPr>
          <p:cNvPr id="5" name="element_86bc7cdfde4f27bae77c7ff721175c58"/>
          <p:cNvSpPr txBox="1"/>
          <p:nvPr/>
        </p:nvSpPr>
        <p:spPr>
          <a:xfrm>
            <a:off x="853419" y="2743200"/>
            <a:ext cx="9631439" cy="123444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Parity breaks when benchmark, browser, deployment, and public claims follow different implementations.</a:t>
            </a:r>
            <a:endParaRPr lang="en-US" sz="1900" dirty="0"/>
          </a:p>
        </p:txBody>
      </p:sp>
      <p:sp>
        <p:nvSpPr>
          <p:cNvPr id="6" name="element_15d3554a4029844201b3e167a8fbc133"/>
          <p:cNvSpPr txBox="1"/>
          <p:nvPr/>
        </p:nvSpPr>
        <p:spPr>
          <a:xfrm>
            <a:off x="853419" y="4251960"/>
            <a:ext cx="3169841" cy="109728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One implementation must serve every gate</a:t>
            </a:r>
            <a:endParaRPr lang="en-US" sz="1700" dirty="0"/>
          </a:p>
        </p:txBody>
      </p:sp>
      <p:sp>
        <p:nvSpPr>
          <p:cNvPr id="7" name="element_0f06cf0e1f33b6fd1d275dd2a46ab4f7"/>
          <p:cNvSpPr txBox="1"/>
          <p:nvPr/>
        </p:nvSpPr>
        <p:spPr>
          <a:xfrm>
            <a:off x="4389010" y="4251960"/>
            <a:ext cx="3169841" cy="109728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Receipts bind the exact revision</a:t>
            </a:r>
            <a:endParaRPr lang="en-US" sz="1700" dirty="0"/>
          </a:p>
        </p:txBody>
      </p:sp>
      <p:sp>
        <p:nvSpPr>
          <p:cNvPr id="8" name="element_27d3209f7da53dfa7d39922285e46051"/>
          <p:cNvSpPr txBox="1"/>
          <p:nvPr/>
        </p:nvSpPr>
        <p:spPr>
          <a:xfrm>
            <a:off x="7924602" y="4251960"/>
            <a:ext cx="3169841" cy="109728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Failed gates stay visible</a:t>
            </a:r>
            <a:endParaRPr lang="en-US" sz="1700" dirty="0"/>
          </a:p>
        </p:txBody>
      </p:sp>
      <p:sp>
        <p:nvSpPr>
          <p:cNvPr id="9" name="element_2e8b27f6277d1615787e84b456a60b67"/>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0" name="element_56d08c738ab3d632b7a0c174a382b63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8"/>
        </a:solidFill>
      </p:bgPr>
    </p:bg>
    <p:spTree>
      <p:nvGrpSpPr>
        <p:cNvPr id="1" name=""/>
        <p:cNvGrpSpPr/>
        <p:nvPr/>
      </p:nvGrpSpPr>
      <p:grpSpPr>
        <a:xfrm>
          <a:off x="0" y="0"/>
          <a:ext cx="0" cy="0"/>
          <a:chOff x="0" y="0"/>
          <a:chExt cx="0" cy="0"/>
        </a:xfrm>
      </p:grpSpPr>
      <p:sp>
        <p:nvSpPr>
          <p:cNvPr id="2" name="element_11993a4790cefefdbb8791acdbe5c16a"/>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e6862ea9deea0f6a27d159088fc6db9e"/>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EVIDENCE / 03</a:t>
            </a:r>
            <a:endParaRPr lang="en-US" sz="1500" dirty="0"/>
          </a:p>
        </p:txBody>
      </p:sp>
      <p:sp>
        <p:nvSpPr>
          <p:cNvPr id="4" name="element_f8394370c2f95aaae50bcc4427e73558"/>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Two presets passed the full factory path in 37.221 seconds.</a:t>
            </a:r>
            <a:endParaRPr lang="en-US" sz="3800" dirty="0"/>
          </a:p>
        </p:txBody>
      </p:sp>
      <p:sp>
        <p:nvSpPr>
          <p:cNvPr id="5" name="element_ba2235136715e69a6f61800926c682a8"/>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From empty directories, NodeKit installed, compiled, ran, evaluated, benchmarked, and proof-checked both presets.</a:t>
            </a:r>
            <a:endParaRPr lang="en-US" sz="1900" dirty="0"/>
          </a:p>
        </p:txBody>
      </p:sp>
      <p:sp>
        <p:nvSpPr>
          <p:cNvPr id="6" name="element_1f2de5f2c88df9901e9e651d987dc04b"/>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Agentic RL preset: passed</a:t>
            </a:r>
            <a:endParaRPr lang="en-US" sz="1700" dirty="0"/>
          </a:p>
        </p:txBody>
      </p:sp>
      <p:sp>
        <p:nvSpPr>
          <p:cNvPr id="7" name="element_9fa5a687cf3820ee4cde98641fb34b1e"/>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SMB lending FDE preset: passed</a:t>
            </a:r>
            <a:endParaRPr lang="en-US" sz="1700" dirty="0"/>
          </a:p>
        </p:txBody>
      </p:sp>
      <p:sp>
        <p:nvSpPr>
          <p:cNvPr id="8" name="element_83465293695b1fa37a8fdbb612cf9643"/>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Local benchmark, not production latency</a:t>
            </a:r>
            <a:endParaRPr lang="en-US" sz="1700" dirty="0"/>
          </a:p>
        </p:txBody>
      </p:sp>
      <p:sp>
        <p:nvSpPr>
          <p:cNvPr id="9" name="element_ea3d8805ae384f37bf4911a0b71bf299"/>
          <p:cNvSpPr txBox="1"/>
          <p:nvPr/>
        </p:nvSpPr>
        <p:spPr>
          <a:xfrm>
            <a:off x="6827349" y="2811780"/>
            <a:ext cx="4145176" cy="1371600"/>
          </a:xfrm>
          <a:prstGeom prst="rect">
            <a:avLst/>
          </a:prstGeom>
          <a:noFill/>
          <a:ln/>
        </p:spPr>
        <p:txBody>
          <a:bodyPr wrap="square" lIns="254000" tIns="254000" rIns="254000" bIns="254000" rtlCol="0" anchor="t">
            <a:normAutofit/>
          </a:bodyPr>
          <a:lstStyle/>
          <a:p>
            <a:pPr algn="l" indent="0" marL="0">
              <a:lnSpc>
                <a:spcPct val="100000"/>
              </a:lnSpc>
              <a:buNone/>
            </a:pPr>
            <a:r>
              <a:rPr lang="en-US" sz="5600" b="1" dirty="0">
                <a:solidFill>
                  <a:srgbClr val="15554E"/>
                </a:solidFill>
                <a:latin typeface="Courier New" pitchFamily="34" charset="0"/>
                <a:ea typeface="Courier New" pitchFamily="34" charset="-122"/>
                <a:cs typeface="Courier New" pitchFamily="34" charset="-120"/>
              </a:rPr>
              <a:t>37.221 s</a:t>
            </a:r>
            <a:endParaRPr lang="en-US" sz="5600" dirty="0"/>
          </a:p>
        </p:txBody>
      </p:sp>
      <p:sp>
        <p:nvSpPr>
          <p:cNvPr id="10" name="element_a29a96e86322caf1ad01bd4210d5db3f"/>
          <p:cNvSpPr txBox="1"/>
          <p:nvPr/>
        </p:nvSpPr>
        <p:spPr>
          <a:xfrm>
            <a:off x="7193100" y="4320540"/>
            <a:ext cx="3535592" cy="617220"/>
          </a:xfrm>
          <a:prstGeom prst="rect">
            <a:avLst/>
          </a:prstGeom>
          <a:noFill/>
          <a:ln/>
        </p:spPr>
        <p:txBody>
          <a:bodyPr wrap="square" lIns="0" tIns="0" rIns="0" bIns="0" rtlCol="0" anchor="t">
            <a:normAutofit/>
          </a:bodyPr>
          <a:lstStyle/>
          <a:p>
            <a:pPr algn="ctr" indent="0" marL="0">
              <a:lnSpc>
                <a:spcPct val="125000"/>
              </a:lnSpc>
              <a:buNone/>
            </a:pPr>
            <a:r>
              <a:rPr lang="en-US" sz="1500" dirty="0">
                <a:solidFill>
                  <a:srgbClr val="60727B"/>
                </a:solidFill>
                <a:latin typeface="Arial" pitchFamily="34" charset="0"/>
                <a:ea typeface="Arial" pitchFamily="34" charset="-122"/>
                <a:cs typeface="Arial" pitchFamily="34" charset="-120"/>
              </a:rPr>
              <a:t>deterministic local factory acceptance</a:t>
            </a:r>
            <a:endParaRPr lang="en-US" sz="1500" dirty="0"/>
          </a:p>
        </p:txBody>
      </p:sp>
      <p:sp>
        <p:nvSpPr>
          <p:cNvPr id="11" name="element_b74d2c94a0760efb99e06f8c5b1c5112"/>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2" name="element_bd243cee183a99b86a3af53649936c1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8"/>
        </a:solidFill>
      </p:bgPr>
    </p:bg>
    <p:spTree>
      <p:nvGrpSpPr>
        <p:cNvPr id="1" name=""/>
        <p:cNvGrpSpPr/>
        <p:nvPr/>
      </p:nvGrpSpPr>
      <p:grpSpPr>
        <a:xfrm>
          <a:off x="0" y="0"/>
          <a:ext cx="0" cy="0"/>
          <a:chOff x="0" y="0"/>
          <a:chExt cx="0" cy="0"/>
        </a:xfrm>
      </p:grpSpPr>
      <p:sp>
        <p:nvSpPr>
          <p:cNvPr id="2" name="element_ce07d73e506dfb881c6427f2432697a3"/>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48c4131badb71ef2f80ebd0087179dc6"/>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CASE STUDY / 04</a:t>
            </a:r>
            <a:endParaRPr lang="en-US" sz="1500" dirty="0"/>
          </a:p>
        </p:txBody>
      </p:sp>
      <p:sp>
        <p:nvSpPr>
          <p:cNvPr id="4" name="element_90a4e2d6ed09f9ba6dd494993c6d723b"/>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The Casca lab passed every local gate without making a credit decision.</a:t>
            </a:r>
            <a:endParaRPr lang="en-US" sz="3800" dirty="0"/>
          </a:p>
        </p:txBody>
      </p:sp>
      <p:sp>
        <p:nvSpPr>
          <p:cNvPr id="5" name="element_03eb50d842f873e3e5040494eea1ced0"/>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On commit 6c8d7d9, the synthetic lab passed deterministic, live-provider, browser, reload, export, and identity gates.</a:t>
            </a:r>
            <a:endParaRPr lang="en-US" sz="1900" dirty="0"/>
          </a:p>
        </p:txBody>
      </p:sp>
      <p:sp>
        <p:nvSpPr>
          <p:cNvPr id="6" name="element_2ef3d8b3cb3ac52334226c56a07c2c7f"/>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One bounded live-provider call</a:t>
            </a:r>
            <a:endParaRPr lang="en-US" sz="1700" dirty="0"/>
          </a:p>
        </p:txBody>
      </p:sp>
      <p:sp>
        <p:nvSpPr>
          <p:cNvPr id="7" name="element_ee5079bac7af67e5abbb05e7d2efe591"/>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Fresh browser plus reload</a:t>
            </a:r>
            <a:endParaRPr lang="en-US" sz="1700" dirty="0"/>
          </a:p>
        </p:txBody>
      </p:sp>
      <p:sp>
        <p:nvSpPr>
          <p:cNvPr id="8" name="element_56c08de2b03f411a45252d85de31a3e4"/>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Deployment gate still open</a:t>
            </a:r>
            <a:endParaRPr lang="en-US" sz="1700" dirty="0"/>
          </a:p>
        </p:txBody>
      </p:sp>
      <p:sp>
        <p:nvSpPr>
          <p:cNvPr id="9" name="element_9b1035cd43eb9dab3b435e2bc696f727"/>
          <p:cNvSpPr txBox="1"/>
          <p:nvPr/>
        </p:nvSpPr>
        <p:spPr>
          <a:xfrm>
            <a:off x="6461598" y="2880360"/>
            <a:ext cx="4754761" cy="1645920"/>
          </a:xfrm>
          <a:prstGeom prst="rect">
            <a:avLst/>
          </a:prstGeom>
          <a:noFill/>
          <a:ln/>
        </p:spPr>
        <p:txBody>
          <a:bodyPr wrap="square" lIns="254000" tIns="254000" rIns="254000" bIns="254000" rtlCol="0" anchor="ctr">
            <a:normAutofit/>
          </a:bodyPr>
          <a:lstStyle/>
          <a:p>
            <a:pPr algn="ctr" indent="0" marL="0">
              <a:lnSpc>
                <a:spcPct val="115000"/>
              </a:lnSpc>
              <a:buNone/>
            </a:pPr>
            <a:r>
              <a:rPr lang="en-US" sz="3000" b="1" dirty="0">
                <a:solidFill>
                  <a:srgbClr val="15554E"/>
                </a:solidFill>
                <a:latin typeface="Courier New" pitchFamily="34" charset="0"/>
                <a:ea typeface="Courier New" pitchFamily="34" charset="-122"/>
                <a:cs typeface="Courier New" pitchFamily="34" charset="-120"/>
              </a:rPr>
              <a:t>query → proposal → approval → export</a:t>
            </a:r>
            <a:endParaRPr lang="en-US" sz="3000" dirty="0"/>
          </a:p>
        </p:txBody>
      </p:sp>
      <p:sp>
        <p:nvSpPr>
          <p:cNvPr id="10" name="element_327595c9af25e400cfeeab8f7a9b4420"/>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1" name="element_32a4580ff93feaafd129af045d43ab9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8"/>
        </a:solidFill>
      </p:bgPr>
    </p:bg>
    <p:spTree>
      <p:nvGrpSpPr>
        <p:cNvPr id="1" name=""/>
        <p:cNvGrpSpPr/>
        <p:nvPr/>
      </p:nvGrpSpPr>
      <p:grpSpPr>
        <a:xfrm>
          <a:off x="0" y="0"/>
          <a:ext cx="0" cy="0"/>
          <a:chOff x="0" y="0"/>
          <a:chExt cx="0" cy="0"/>
        </a:xfrm>
      </p:grpSpPr>
      <p:sp>
        <p:nvSpPr>
          <p:cNvPr id="2" name="element_441cef5852a9ff97d62d98ca8251c786"/>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22acb143fa0fdb6025fc2646ca566890"/>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TECHNICAL DECISION / 05</a:t>
            </a:r>
            <a:endParaRPr lang="en-US" sz="1500" dirty="0"/>
          </a:p>
        </p:txBody>
      </p:sp>
      <p:sp>
        <p:nvSpPr>
          <p:cNvPr id="4" name="element_efddd7b25aac9dabc6fdfd71d47a14e5"/>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Protect the scorer first; train only after its boundaries are credible.</a:t>
            </a:r>
            <a:endParaRPr lang="en-US" sz="3800" dirty="0"/>
          </a:p>
        </p:txBody>
      </p:sp>
      <p:sp>
        <p:nvSpPr>
          <p:cNvPr id="5" name="element_f242858491cc10d52ec3ace76652c29b"/>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The current baseline is behavior cloning, not RL. It passed protected local evaluation; the strict Azure-only live route failed closed with no fallback.</a:t>
            </a:r>
            <a:endParaRPr lang="en-US" sz="1900" dirty="0"/>
          </a:p>
        </p:txBody>
      </p:sp>
      <p:sp>
        <p:nvSpPr>
          <p:cNvPr id="6" name="element_9beda235a4b243f53af53076e793021c"/>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Behavior cloning only</a:t>
            </a:r>
            <a:endParaRPr lang="en-US" sz="1700" dirty="0"/>
          </a:p>
        </p:txBody>
      </p:sp>
      <p:sp>
        <p:nvSpPr>
          <p:cNvPr id="7" name="element_a3a6effd3048bc41fa101a7acd83b99e"/>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Nine reward attacks blocked</a:t>
            </a:r>
            <a:endParaRPr lang="en-US" sz="1700" dirty="0"/>
          </a:p>
        </p:txBody>
      </p:sp>
      <p:sp>
        <p:nvSpPr>
          <p:cNvPr id="8" name="element_1ed44405172c9d8e0eb05a920b871e1d"/>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Azure/ZDR route: HTTP 404; no fallback</a:t>
            </a:r>
            <a:endParaRPr lang="en-US" sz="1700" dirty="0"/>
          </a:p>
        </p:txBody>
      </p:sp>
      <p:sp>
        <p:nvSpPr>
          <p:cNvPr id="9" name="element_ebea8c73573da899e7d162ba13ec131a"/>
          <p:cNvSpPr txBox="1"/>
          <p:nvPr/>
        </p:nvSpPr>
        <p:spPr>
          <a:xfrm>
            <a:off x="6827349" y="2811780"/>
            <a:ext cx="4145176" cy="1028700"/>
          </a:xfrm>
          <a:prstGeom prst="rect">
            <a:avLst/>
          </a:prstGeom>
          <a:noFill/>
          <a:ln/>
        </p:spPr>
        <p:txBody>
          <a:bodyPr wrap="square" lIns="254000" tIns="254000" rIns="254000" bIns="254000" rtlCol="0" anchor="t">
            <a:normAutofit/>
          </a:bodyPr>
          <a:lstStyle/>
          <a:p>
            <a:pPr algn="l" indent="0" marL="0">
              <a:lnSpc>
                <a:spcPct val="100000"/>
              </a:lnSpc>
              <a:buNone/>
            </a:pPr>
            <a:r>
              <a:rPr lang="en-US" sz="4300" b="1" dirty="0">
                <a:solidFill>
                  <a:srgbClr val="15554E"/>
                </a:solidFill>
                <a:latin typeface="Courier New" pitchFamily="34" charset="0"/>
                <a:ea typeface="Courier New" pitchFamily="34" charset="-122"/>
                <a:cs typeface="Courier New" pitchFamily="34" charset="-120"/>
              </a:rPr>
              <a:t>9</a:t>
            </a:r>
            <a:endParaRPr lang="en-US" sz="4300" dirty="0"/>
          </a:p>
        </p:txBody>
      </p:sp>
      <p:sp>
        <p:nvSpPr>
          <p:cNvPr id="10" name="element_492759c40e9748ee5bd02eb398ca4700"/>
          <p:cNvSpPr txBox="1"/>
          <p:nvPr/>
        </p:nvSpPr>
        <p:spPr>
          <a:xfrm>
            <a:off x="7193100" y="3977640"/>
            <a:ext cx="3535592" cy="617220"/>
          </a:xfrm>
          <a:prstGeom prst="rect">
            <a:avLst/>
          </a:prstGeom>
          <a:noFill/>
          <a:ln/>
        </p:spPr>
        <p:txBody>
          <a:bodyPr wrap="square" lIns="0" tIns="0" rIns="0" bIns="0" rtlCol="0" anchor="t">
            <a:normAutofit/>
          </a:bodyPr>
          <a:lstStyle/>
          <a:p>
            <a:pPr algn="ctr" indent="0" marL="0">
              <a:lnSpc>
                <a:spcPct val="125000"/>
              </a:lnSpc>
              <a:buNone/>
            </a:pPr>
            <a:r>
              <a:rPr lang="en-US" sz="1500" dirty="0">
                <a:solidFill>
                  <a:srgbClr val="60727B"/>
                </a:solidFill>
                <a:latin typeface="Arial" pitchFamily="34" charset="0"/>
                <a:ea typeface="Arial" pitchFamily="34" charset="-122"/>
                <a:cs typeface="Arial" pitchFamily="34" charset="-120"/>
              </a:rPr>
              <a:t>adversarial reward attacks blocked</a:t>
            </a:r>
            <a:endParaRPr lang="en-US" sz="1500" dirty="0"/>
          </a:p>
        </p:txBody>
      </p:sp>
      <p:graphicFrame>
        <p:nvGraphicFramePr>
          <p:cNvPr id="11" name="element_5ae48df0f23c59879efde9168b92e567" descr=""/>
          <p:cNvGraphicFramePr/>
          <p:nvPr/>
        </p:nvGraphicFramePr>
        <p:xfrm>
          <a:off x="6461598" y="4800600"/>
          <a:ext cx="4754761" cy="1165860"/>
        </p:xfrm>
        <a:graphic xmlns:a="http://schemas.openxmlformats.org/drawingml/2006/main">
          <a:graphicData uri="http://schemas.openxmlformats.org/drawingml/2006/chart">
            <c:chart xmlns:c="http://schemas.openxmlformats.org/drawingml/2006/chart" r:id="rId1"/>
          </a:graphicData>
        </a:graphic>
      </p:graphicFrame>
      <p:sp>
        <p:nvSpPr>
          <p:cNvPr id="12" name="element_2d32dcd4a686b0eeadb4e3e1ef573171"/>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3" name="element_71c28e6c7eadc3186b29261c123af0bb"/>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8"/>
        </a:solidFill>
      </p:bgPr>
    </p:bg>
    <p:spTree>
      <p:nvGrpSpPr>
        <p:cNvPr id="1" name=""/>
        <p:cNvGrpSpPr/>
        <p:nvPr/>
      </p:nvGrpSpPr>
      <p:grpSpPr>
        <a:xfrm>
          <a:off x="0" y="0"/>
          <a:ext cx="0" cy="0"/>
          <a:chOff x="0" y="0"/>
          <a:chExt cx="0" cy="0"/>
        </a:xfrm>
      </p:grpSpPr>
      <p:sp>
        <p:nvSpPr>
          <p:cNvPr id="2" name="element_d819a12ac90735708c093d76976a9d44"/>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311ea078e96b6e93f136789f50e5d029"/>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PRODUCT REVEAL / 06</a:t>
            </a:r>
            <a:endParaRPr lang="en-US" sz="1500" dirty="0"/>
          </a:p>
        </p:txBody>
      </p:sp>
      <p:sp>
        <p:nvSpPr>
          <p:cNvPr id="4" name="element_a2dbc9b09f7164bfff935aaef315c309"/>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Founder Quest passed all 15 hosted checks on one exact production revision.</a:t>
            </a:r>
            <a:endParaRPr lang="en-US" sz="3800" dirty="0"/>
          </a:p>
        </p:txBody>
      </p:sp>
      <p:sp>
        <p:nvSpPr>
          <p:cNvPr id="5" name="element_79141630d779b09a58e0729a9395f45e"/>
          <p:cNvSpPr txBox="1"/>
          <p:nvPr/>
        </p:nvSpPr>
        <p:spPr>
          <a:xfrm>
            <a:off x="6339682" y="2743200"/>
            <a:ext cx="4876678"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Read-only Founder Quest connects quests, a bounded graph, sourced answers, authority boundaries, and proof in four isolated browser contexts.</a:t>
            </a:r>
            <a:endParaRPr lang="en-US" sz="1900" dirty="0"/>
          </a:p>
        </p:txBody>
      </p:sp>
      <p:sp>
        <p:nvSpPr>
          <p:cNvPr id="6" name="element_93e78132357c4529dbf931f0211ced92"/>
          <p:cNvSpPr txBox="1"/>
          <p:nvPr/>
        </p:nvSpPr>
        <p:spPr>
          <a:xfrm>
            <a:off x="6339682" y="4251960"/>
            <a:ext cx="4876678"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Source dc5fba2 · evidence 0457913</a:t>
            </a:r>
            <a:endParaRPr lang="en-US" sz="1700" dirty="0"/>
          </a:p>
        </p:txBody>
      </p:sp>
      <p:sp>
        <p:nvSpPr>
          <p:cNvPr id="7" name="element_aed3b360e380f07c949f06a2edb23c8c"/>
          <p:cNvSpPr txBox="1"/>
          <p:nvPr/>
        </p:nvSpPr>
        <p:spPr>
          <a:xfrm>
            <a:off x="6339682" y="4937760"/>
            <a:ext cx="4876678"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App/config 973ea7cb · graph ng1_c9334138</a:t>
            </a:r>
            <a:endParaRPr lang="en-US" sz="1700" dirty="0"/>
          </a:p>
        </p:txBody>
      </p:sp>
      <p:sp>
        <p:nvSpPr>
          <p:cNvPr id="8" name="element_38db63ea980ab8c44002d552e2a50808"/>
          <p:cNvSpPr txBox="1"/>
          <p:nvPr/>
        </p:nvSpPr>
        <p:spPr>
          <a:xfrm>
            <a:off x="6339682" y="5623560"/>
            <a:ext cx="4876678"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18 / 18 tests · 25 / 25 artifact hashes</a:t>
            </a:r>
            <a:endParaRPr lang="en-US" sz="1700" dirty="0"/>
          </a:p>
        </p:txBody>
      </p:sp>
      <p:pic>
        <p:nvPicPr>
          <p:cNvPr id="9" name="element_c5c18b1912be12123fb377ee9d25efb3 [static image fallback]" descr="Founder Quest verified read-only production product view">    </p:cNvPr>
          <p:cNvPicPr>
            <a:picLocks noChangeAspect="1"/>
          </p:cNvPicPr>
          <p:nvPr/>
        </p:nvPicPr>
        <p:blipFill>
          <a:blip r:embed="rId1"/>
          <a:stretch>
            <a:fillRect/>
          </a:stretch>
        </p:blipFill>
        <p:spPr>
          <a:xfrm>
            <a:off x="731502" y="2674620"/>
            <a:ext cx="4754761" cy="2606040"/>
          </a:xfrm>
          <a:prstGeom prst="rect">
            <a:avLst/>
          </a:prstGeom>
        </p:spPr>
      </p:pic>
      <p:sp>
        <p:nvSpPr>
          <p:cNvPr id="10" name="element_d0e06834070fe67afcd7f813975560fa"/>
          <p:cNvSpPr txBox="1"/>
          <p:nvPr/>
        </p:nvSpPr>
        <p:spPr>
          <a:xfrm>
            <a:off x="975336" y="5417820"/>
            <a:ext cx="4267093" cy="480060"/>
          </a:xfrm>
          <a:prstGeom prst="rect">
            <a:avLst/>
          </a:prstGeom>
          <a:noFill/>
          <a:ln/>
        </p:spPr>
        <p:txBody>
          <a:bodyPr wrap="square" lIns="0" tIns="0" rIns="0" bIns="0" rtlCol="0" anchor="t">
            <a:normAutofit/>
          </a:bodyPr>
          <a:lstStyle/>
          <a:p>
            <a:pPr algn="ctr" indent="0" marL="0">
              <a:lnSpc>
                <a:spcPct val="120000"/>
              </a:lnSpc>
              <a:buNone/>
            </a:pPr>
            <a:r>
              <a:rPr lang="en-US" sz="1400" dirty="0">
                <a:solidFill>
                  <a:srgbClr val="60727B"/>
                </a:solidFill>
                <a:latin typeface="Arial" pitchFamily="34" charset="0"/>
                <a:ea typeface="Arial" pitchFamily="34" charset="-122"/>
                <a:cs typeface="Arial" pitchFamily="34" charset="-120"/>
              </a:rPr>
              <a:t>Production screenshot; verified scope remains synthetic and read-only.</a:t>
            </a:r>
            <a:endParaRPr lang="en-US" sz="1400" dirty="0"/>
          </a:p>
        </p:txBody>
      </p:sp>
      <p:sp>
        <p:nvSpPr>
          <p:cNvPr id="11" name="element_5ea62d3778782a772fa504dc394eabb3"/>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2" name="element_d80442e1b065aaf959a92a5348a5ddc9"/>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8"/>
        </a:solidFill>
      </p:bgPr>
    </p:bg>
    <p:spTree>
      <p:nvGrpSpPr>
        <p:cNvPr id="1" name=""/>
        <p:cNvGrpSpPr/>
        <p:nvPr/>
      </p:nvGrpSpPr>
      <p:grpSpPr>
        <a:xfrm>
          <a:off x="0" y="0"/>
          <a:ext cx="0" cy="0"/>
          <a:chOff x="0" y="0"/>
          <a:chExt cx="0" cy="0"/>
        </a:xfrm>
      </p:grpSpPr>
      <p:sp>
        <p:nvSpPr>
          <p:cNvPr id="2" name="element_4c427d50d70e2878671ac7391fb8eae9"/>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344cc64204b82edbef41b98b9d6b3a27"/>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EXTERNAL USE CASE / 07</a:t>
            </a:r>
            <a:endParaRPr lang="en-US" sz="1500" dirty="0"/>
          </a:p>
        </p:txBody>
      </p:sp>
      <p:sp>
        <p:nvSpPr>
          <p:cNvPr id="4" name="element_b95b8d1d34ad1d4447f17f26d9e381d7"/>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A real grant scenario tests the graph without claiming biological proof.</a:t>
            </a:r>
            <a:endParaRPr lang="en-US" sz="3800" dirty="0"/>
          </a:p>
        </p:txBody>
      </p:sp>
      <p:sp>
        <p:nvSpPr>
          <p:cNvPr id="5" name="element_b9145fccfc975fe4640cb691d4c97d0f"/>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Anthropic's rare-disease grant is an independent forcing function for mapping research, novelty, evaluation, authority, and readiness, not an affiliation.</a:t>
            </a:r>
            <a:endParaRPr lang="en-US" sz="1900" dirty="0"/>
          </a:p>
        </p:txBody>
      </p:sp>
      <p:sp>
        <p:nvSpPr>
          <p:cNvPr id="6" name="element_8d56a53dc9aaf9d739e3d34115bb6f1e"/>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Official grant announcement</a:t>
            </a:r>
            <a:endParaRPr lang="en-US" sz="1700" dirty="0"/>
          </a:p>
        </p:txBody>
      </p:sp>
      <p:sp>
        <p:nvSpPr>
          <p:cNvPr id="7" name="element_81fb879e277f0f1bd3cebd6093ae4a80"/>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No affiliation or endorsement</a:t>
            </a:r>
            <a:endParaRPr lang="en-US" sz="1700" dirty="0"/>
          </a:p>
        </p:txBody>
      </p:sp>
      <p:sp>
        <p:nvSpPr>
          <p:cNvPr id="8" name="element_019fc938330310aec0b95bb87bf8e8e0"/>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Research synthesis does not prove biology</a:t>
            </a:r>
            <a:endParaRPr lang="en-US" sz="1700" dirty="0"/>
          </a:p>
        </p:txBody>
      </p:sp>
      <p:sp>
        <p:nvSpPr>
          <p:cNvPr id="9" name="element_5471a325626183335f88fae06c0a01bb"/>
          <p:cNvSpPr txBox="1"/>
          <p:nvPr/>
        </p:nvSpPr>
        <p:spPr>
          <a:xfrm>
            <a:off x="6461598" y="2880360"/>
            <a:ext cx="4754761" cy="1645920"/>
          </a:xfrm>
          <a:prstGeom prst="rect">
            <a:avLst/>
          </a:prstGeom>
          <a:noFill/>
          <a:ln/>
        </p:spPr>
        <p:txBody>
          <a:bodyPr wrap="square" lIns="254000" tIns="254000" rIns="254000" bIns="254000" rtlCol="0" anchor="ctr">
            <a:normAutofit/>
          </a:bodyPr>
          <a:lstStyle/>
          <a:p>
            <a:pPr algn="ctr" indent="0" marL="0">
              <a:lnSpc>
                <a:spcPct val="115000"/>
              </a:lnSpc>
              <a:buNone/>
            </a:pPr>
            <a:r>
              <a:rPr lang="en-US" sz="3000" b="1" dirty="0">
                <a:solidFill>
                  <a:srgbClr val="15554E"/>
                </a:solidFill>
                <a:latin typeface="Courier New" pitchFamily="34" charset="0"/>
                <a:ea typeface="Courier New" pitchFamily="34" charset="-122"/>
                <a:cs typeface="Courier New" pitchFamily="34" charset="-120"/>
              </a:rPr>
              <a:t>source → claim → evaluation → application readiness</a:t>
            </a:r>
            <a:endParaRPr lang="en-US" sz="3000" dirty="0"/>
          </a:p>
        </p:txBody>
      </p:sp>
      <p:sp>
        <p:nvSpPr>
          <p:cNvPr id="10" name="element_68f5fc0ba60515c2e376464e2aac49a3"/>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1" name="element_d0cedd0c0a045cab8898d86d49a6d4f5"/>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8"/>
        </a:solidFill>
      </p:bgPr>
    </p:bg>
    <p:spTree>
      <p:nvGrpSpPr>
        <p:cNvPr id="1" name=""/>
        <p:cNvGrpSpPr/>
        <p:nvPr/>
      </p:nvGrpSpPr>
      <p:grpSpPr>
        <a:xfrm>
          <a:off x="0" y="0"/>
          <a:ext cx="0" cy="0"/>
          <a:chOff x="0" y="0"/>
          <a:chExt cx="0" cy="0"/>
        </a:xfrm>
      </p:grpSpPr>
      <p:sp>
        <p:nvSpPr>
          <p:cNvPr id="2" name="element_9340e0e93b211e48c60363c785e970da"/>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c13c517f476e3bfa4f0af6865bcdccd4"/>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SYNTHESIS / 08</a:t>
            </a:r>
            <a:endParaRPr lang="en-US" sz="1500" dirty="0"/>
          </a:p>
        </p:txBody>
      </p:sp>
      <p:sp>
        <p:nvSpPr>
          <p:cNvPr id="4" name="element_a4fae4ac9cf1ce92b893d827155c2212"/>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Loops need external anchors. Bring one workflow and inspect the proof.</a:t>
            </a:r>
            <a:endParaRPr lang="en-US" sz="3800" dirty="0"/>
          </a:p>
        </p:txBody>
      </p:sp>
      <p:sp>
        <p:nvSpPr>
          <p:cNvPr id="5" name="element_48ca75052099aae6039680230e7d8af4"/>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Research, build, evaluation, proof, presentation, and feedback can watch one another. Only external anchors close the graph.</a:t>
            </a:r>
            <a:endParaRPr lang="en-US" sz="1900" dirty="0"/>
          </a:p>
        </p:txBody>
      </p:sp>
      <p:sp>
        <p:nvSpPr>
          <p:cNvPr id="6" name="element_a1ca5640e88c8f2f2cfea514886d21c4"/>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Researcher, builder, or operator</a:t>
            </a:r>
            <a:endParaRPr lang="en-US" sz="1700" dirty="0"/>
          </a:p>
        </p:txBody>
      </p:sp>
      <p:sp>
        <p:nvSpPr>
          <p:cNvPr id="7" name="element_f46d7381acf5fdb79fc2424b56adba2b"/>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Sources, commits, exports, and outcomes</a:t>
            </a:r>
            <a:endParaRPr lang="en-US" sz="1700" dirty="0"/>
          </a:p>
        </p:txBody>
      </p:sp>
      <p:sp>
        <p:nvSpPr>
          <p:cNvPr id="8" name="element_bd3c89612de07b02f5f35d4ac990bdab"/>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Inspect pass, fail, and human-review status</a:t>
            </a:r>
            <a:endParaRPr lang="en-US" sz="1700" dirty="0"/>
          </a:p>
        </p:txBody>
      </p:sp>
      <p:sp>
        <p:nvSpPr>
          <p:cNvPr id="9" name="element_48ac23793e908070839a4dc17cd52235"/>
          <p:cNvSpPr txBox="1"/>
          <p:nvPr/>
        </p:nvSpPr>
        <p:spPr>
          <a:xfrm>
            <a:off x="6461598" y="2880360"/>
            <a:ext cx="4754761" cy="1645920"/>
          </a:xfrm>
          <a:prstGeom prst="rect">
            <a:avLst/>
          </a:prstGeom>
          <a:noFill/>
          <a:ln/>
        </p:spPr>
        <p:txBody>
          <a:bodyPr wrap="square" lIns="254000" tIns="254000" rIns="254000" bIns="254000" rtlCol="0" anchor="ctr">
            <a:normAutofit/>
          </a:bodyPr>
          <a:lstStyle/>
          <a:p>
            <a:pPr algn="ctr" indent="0" marL="0">
              <a:lnSpc>
                <a:spcPct val="115000"/>
              </a:lnSpc>
              <a:buNone/>
            </a:pPr>
            <a:r>
              <a:rPr lang="en-US" sz="3000" b="1" dirty="0">
                <a:solidFill>
                  <a:srgbClr val="15554E"/>
                </a:solidFill>
                <a:latin typeface="Courier New" pitchFamily="34" charset="0"/>
                <a:ea typeface="Courier New" pitchFamily="34" charset="-122"/>
                <a:cs typeface="Courier New" pitchFamily="34" charset="-120"/>
              </a:rPr>
              <a:t>research ↔ build ↔ evaluation ↔ proof</a:t>
            </a:r>
            <a:endParaRPr lang="en-US" sz="3000" dirty="0"/>
          </a:p>
        </p:txBody>
      </p:sp>
      <p:sp>
        <p:nvSpPr>
          <p:cNvPr id="10" name="element_de5708ba0eba721d4a083cc108085a7b"/>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NODESLIDE  ·  SOURCE-AWARE  ·  EDITABLE</a:t>
            </a:r>
            <a:endParaRPr lang="en-US" sz="1000" dirty="0"/>
          </a:p>
        </p:txBody>
      </p:sp>
      <p:sp>
        <p:nvSpPr>
          <p:cNvPr id="11" name="element_2193ba4880cf411905fc4a2338641e01"/>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ist Variab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ist Variabl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Parity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NodeKit launches NodeKit through proof-carrying product work</dc:title>
  <dc:subject>By the end, a technical reviewer should understand that NodeKit is a portable application contract and verification path, see exactly which product slices have passed which gates, and know where the remaining release boundaries are local, blocked, or pending publication. Media-ready and not yet published.</dc:subject>
  <dc:creator>NodeSlide</dc:creator>
  <cp:lastModifiedBy>NodeSlide</cp:lastModifiedBy>
  <cp:revision>1</cp:revision>
  <dcterms:created xsi:type="dcterms:W3CDTF">2026-07-20T00:00:00Z</dcterms:created>
  <dcterms:modified xsi:type="dcterms:W3CDTF">2026-07-20T00:00:00Z</dcterms:modified>
</cp:coreProperties>
</file>