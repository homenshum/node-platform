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287A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reward attacks</c:v>
                  </c:pt>
                  <c:pt idx="1">
                    <c:v>heldout tasks</c:v>
                  </c:pt>
                  <c:pt idx="2">
                    <c:v>fallbacks</c:v>
                  </c:pt>
                </c:lvl>
              </c:multiLvlStrCache>
            </c:multiLvlStrRef>
          </c:cat>
          <c:val>
            <c:numRef>
              <c:f>Sheet1!$B$2:$B$4</c:f>
              <c:numCache>
                <c:formatCode>General</c:formatCode>
                <c:ptCount val="3"/>
                <c:pt idx="0">
                  <c:v>9</c:v>
                </c:pt>
                <c:pt idx="1">
                  <c:v>2</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0727B"/>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0727B"/>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DCECF0">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Open on the outcome, not the component inventory. NodeKit is the portable contract
and certification path around an agent application. The factory receipt is the first
anchor.
Evidence IDs: E1_FACTORY_ACCEPTANCE, E2_NODEKIT_RELEASE.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Explain the failure class: a benchmark can call a different planner than production;
a UI can show a plausible answer without durable state; a release can cite a test
that was not run against the deployed revision. NodeKit compiles these paths from the
same definition and records where parity is still absent.
Evidence IDs: none; planned content only.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Use the exact 37.221-second deterministic acceptance result. Two independently
generated candidate repositories were installed, compiled twice for reproducibility,
committed, run, evaluated, benchmarked, and proof-checked. Do not call this a cloud or
production benchmark.
Evidence IDs: E1_FACTORY_ACCEPTANCE, E2_NODEKIT_RELEASE.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Show the synthetic Casca FDE lab. Highlight graph-aware blocker explanation, proposal
review, reload persistence, one bounded live model call, export/reopen, and the explicit
absence of an automated credit decision. State clearly that deployment is the missing
release gate.
Evidence IDs: E3_CASCA_RELEASE, E4_CASCA_BROWSER, E5_CASCA_LIVE.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The present baseline is behavior cloning, not RL. The important product result is the
step trajectory, protected reward, adversarial suite, heldout boundary, and a live route
that failed closed instead of silently weakening its privacy policy. The next scientific
milestone is a larger preregistered corpus and a shadow-only trained-policy comparison.
Evidence IDs: E6_RL_RELEASE, E7_RL_HELDOUT, E8_RL_LIVE_BLOCKED, E11_RL_CI.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The public read-only synthetic product passed all 15 hosted checks on source commit
dc5fba2467576d5ded3d3ac6bf4d142316410c86 and evidence commit
04579137a85f4ce18db61e6e7c0f25ff7b1d42b6. The same app/config hash is
973ea7cbd8039e963bab1ff604bc0180bf0457f9a334b9b9dc0f77062f103e20, and the graph
revision is ng1_c9334138. Four isolated desktop/mobile light/dark contexts recorded
zero browser, network, or cross-origin errors. The unified release receipt is
production-certified, release-ready, and hosted-deployment-certified; a fresh Windows
worktree verified all 25 artifact-manifest hashes byte-for-byte. The final independent
release re-audit found zero remaining issues, and the suite passed 18/18 tests. Keep
the boundary explicit: the journey is synthetic and read-only, with no durable writes
or remote Neo4j writes, and it does not prove external approval.
Evidence IDs: E12_FOUNDER_QUEST_PRODUCTION, E13_FOUNDER_QUEST_RELEASE.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Anthropic's rare-disease grant announcement is an external scenario, not an affiliation.
Explain how NodeKit would construct the latest-research ledger, novelty graph, benchmark,
Claude-credit plan, and application packet while keeping scientific and clinical authority
with qualified researchers and professionals.
Evidence IDs: E9_ANTHROPIC_GRANT_SOURCE.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MEDIA-BOUND FINAL — publication remains a separate receipt gate.
Name the graph: research, build, evaluation, proof, presentation, distribution, feedback,
and memory. The graph is credible only when it resolves to current sources, exact commits,
fresh-browser evidence, exports, public URLs, and observed response. Invite researchers,
builders, and domain operators to bring one bounded consequential workflow. Close on a
falsifiable promise: the system should expose what passed, what failed, what is local,
and what still needs a human.
Evidence IDs: E1_FACTORY_ACCEPTANCE, E2_NODEKIT_RELEASE, E4_CASCA_BROWSER, E10_GRAPH_OF_LOOPS_SOURCE.
NodeSlide sources
[source_c44bd49bf7a3a585758e0ad53a6b6976] NodeKit launches NodeKit through proof-carrying product work — creation brief
Citation: By the end, a technical reviewer should understand that NodeKit is a portable application contract and verification path, see exactly which product slices have passed which gates, and know where the remaining release boundaries are local, blocked, or pending publication.
Every material claim must remain bound to the supplied Change Story evidence.
Both walkthrough videos are verified and hash-bound; publication remains a separate receipt gate.
https://github.com/HomenShum/node-platform/releases/tag/v0.2.0
https://github.com/HomenShum/agentic-rl-research-lab/releases/tag/v0.1.0-diagnostic-baselines
https://github.com/HomenShum/agentic-rl-research-lab/releases/tag/v0.1.0-diagnostic-baselines
https://www.anthropic.com/news/rare-disease-research-grants
https://medium.com/intuitionmachine/from-loop-engineering-to-graph-engineering-d3ebeb08511c
https://github.com/HomenShum/agentic-rl-research-lab/actions/runs/29799453044
https://founder-quest-graph.vercel.app/
https://github.com/HomenShum/founder-quest-graph/releases/tag/v0.1.1-production-certified
Disclaimer: Internal working material
[source_6b4cf689acf2b4a85799fa0170b871c3] github.com · supplied source 1
Citation: https://github.com/HomenShum/node-platform/releases/tag/v0.2.0
URL: https://github.com/HomenShum/node-platform/releases/tag/v0.2.0
Disclaimer: User-supplied linked evidence; verify reuse rights before external publication.
[source_5a7a15da243337782e46ca48c3c1aece] github.com · supplied source 2
Citation: https://github.com/HomenShum/agentic-rl-research-lab/releases/tag/v0.1.0-diagnostic-baselines
URL: https://github.com/HomenShum/agentic-rl-research-lab/releases/tag/v0.1.0-diagnostic-baselines
Disclaimer: User-supplied linked evidence; verify reuse rights before external publication.
[source_9282cfc0006c078f0af4300c9cef5178] anthropic.com · supplied source 3
Citation: https://www.anthropic.com/news/rare-disease-research-grants
URL: https://www.anthropic.com/news/rare-disease-research-grants
Disclaimer: User-supplied linked evidence; verify reuse rights before external publication.
[source_bc218f024141079d7de141ae1e965e34] medium.com · supplied source 4
Citation: https://medium.com/intuitionmachine/from-loop-engineering-to-graph-engineering-d3ebeb08511c
URL: https://medium.com/intuitionmachine/from-loop-engineering-to-graph-engineering-d3ebeb08511c
Disclaimer: User-supplied linked evidence; verify reuse rights before external publication.
[source_d180607bdac7f679a19c7768867645db] github.com · supplied source 5
Citation: https://github.com/HomenShum/agentic-rl-research-lab/actions/runs/29799453044
URL: https://github.com/HomenShum/agentic-rl-research-lab/actions/runs/29799453044
Disclaimer: User-supplied linked evidence; verify reuse rights before external publication.
[source_d8ea0ffc72f62ef4670e518db54b5b92] founder-quest-graph.vercel.app · supplied source 6
Citation: https://founder-quest-graph.vercel.app/
URL: https://founder-quest-graph.vercel.app/
Disclaimer: User-supplied linked evidence; verify reuse rights before external publication.
[source_f35d5d81a45909c94062d47fd8a1a1f7] github.com · supplied source 7
Citation: https://github.com/HomenShum/founder-quest-graph/releases/tag/v0.1.1-production-certified
URL: https://github.com/HomenShum/founder-quest-graph/releases/tag/v0.1.1-production-certified
Disclaimer: User-supplied linked evidence; verify reuse rights before external publication.
[source_d6a876ec9d0ee0bb1d53d0fead947b6b] NodeKit governed Change Story
Citation: Uploaded file: NodeKit governed Change Story
{
  "change": {
    "affectedSystems": [
      "NodeKit factory",
      "Casca FDE Deployment Lab",
      "FounderQuest Agentic RL research lab",
      "Founder Quest Graph product",
      "NodeSlide presentation pipeline",
      "Feature Proof Studio video pipeline",
      "Chrome/CDP publication workflow"
    ],
    "alternatives": [
      {
        "name": "Build another general agent runtime",
        "rejectedBecause": "Existing runtimes already cover generic orchestration; the missing value is application composition, artifact governance, and certification."
      },
      {
        "name": "Publish a concept announcement before product proof",
        "rejectedBecause": "It would make the deck the source of truth instead of a projection of executed evidence."
      }
    ],
    "approvalBoundaries": {
      "destructiveCleanup": "not_in_scope",
      "directMessagesRepliesOrPaidPromotion": "prohibited",
      "exactPublicCampaign": "authorized",
      "paidLiveProvider": "authorized",
      "productionDeployment": "authorized"
    },
    "audience": [
      "agent builders",
      "applied AI researchers",
      "forward-deployed engineers",
      "technical founders and investors"
    ],
    "changeType": "release-campaign",
    "communicationJob": "By the end, a technical reviewer should understand that NodeKit is a portable application contract and verification path, see exactly which product slices have passed which gates, and know where the remaining release boundaries are local, blocked, or pending publication.",
    "decision": [
      "Use one thin NodeKit manifest, filesystem-discovered capabilities, composed evaluations, and content-addressed proof receipts.",
      "Prove the system through independent generated applications and preserve failed gates as first-class evidence.",
      "Make the launch itself a governed NodeKit workflow whose public claims resolve to exact receipts."
    ],
    "honestLimitations": [
      "NodeKit v0.2.0 is source-released on GitHub; npm publication is blocked by registry authentication.",
      "The Casca lab is local-ready, not production-proven.",
      "The current Agentic RL lab trains a deterministic behavior-cloning baseline; it does not perform gradient-based reinforcement learning.",
      "Founder Quest Graph is production-proven only as a synthetic, read-only workflow with no durable writes or remote Neo4j writes; it does not prove any external approval."
    ],
    "id": "nodekit-proof-campaign-2026-07-20",
    "nextMilestone": "Regenerate the evidence-bound deck and walkthrough from the verified Founder Quest production receipt, then publish only the exact approved campaign and preserve the resulting public-URL receipts.",
    "presentationTier": 4,
    "previousState": [
      "Agent application scaffolding, runtime, domain evaluation, browser QA, and release evidence were rebuilt manually per project.",
      "A generated application could appear complete without proving that its benchmark, product, and release paths shared the same implementation."
    ],
    "requiredProof": [
      "exact commits and application/config hashes",
      "no-key deterministic factory acceptance",
      "strict paid-provider receipts with no fallback",
      "browser journeys with console and network health",
      "exact deployment identity and fresh-user production proof where claimed",
      "editable deck export and reopen verification",
      "public URL verification and distribution receipts"
    ],
    "schemaVersion": "nodekit.change-story/v1",
    "title": "NodeKit launches NodeKit through proof-carrying product work",
    "userPain": [
      "Empty-directory to proof required repeated repository-specific coordination.",
      "Polished demos could outrun their actual runtime, browser, deployment, or artifact evidence."
    ]
  },
  "claims": {
    "claims": [
      {
        "evidenceIds": [
          "E1_FACTORY_ACCEPTANCE",
          "E2_NODEKIT_RELEASE"
        ],
        "id": "C1_FACTORY_ACCEPTANCE",
        "limitations": [
          "The timed acceptance is deterministic and local; it is not a production deployment benchmark.",
          "The npm registry package is not published."
        ],
        "scope": {
          "commit": "ef23bb0d630c265d21be5443138cd1a5b769ed8c",
          "tag": "v0.2.0"
        },
        "status": "measured",
        "text": "NodeKit v0.2.0 generated, installed, compiled, checked, demonstrated, evaluated, benchmarked, and proof-verified both the Agentic RL and SMB-lending presets from empty directories in 37.221 seconds."
      },
      {
        "evidenceIds": [
          "E3_CASCA_RELEASE",
          "E4_CASCA_BROWSER",
          "E5_CASCA_LIVE"
        ],
        "id": "C2_CASCA_LOCAL_PROOF",
        "limitations": [
          "The application is synthetic and unaffiliated with Casca.",
          "Deployment remains an explicitly missing release gate."
        ],
        "scope": {
          "commit": "6c8d7d9f81810509240fe0b2352453bfa04ac924",
          "releaseLevel": "local-ready"
        },
        "status": "verified",
        "text": "The Casca FDE Deployment Lab passed its deterministic, live-provider, adversarial browser, reload, export, and identity-binding gates on one exact commit."
      },
      {
        "evidenceIds": [
          "E6_RL_RELEASE",
          "E7_RL_HELDOUT",
          "E11_RL_CI"
        ],
        "id": "C3_RL_LOCAL_BASELINE",
        "limitations": [
          "This is not policy-gradient RL, preference optimization, online learning, GPU training, or a weight update.",
          "The two-task heldout set is diagnostic and too small for generalization claims."
        ],
        "scope": {
          "commit": "d6826837920d828edd4d7026c4fc17388f27b8b9",
          "releaseLevel": "local-learning-baseline-ready"
        },
        "status": "verified",
        "text": "The Agentic RL research lab exports step trajectories, trains a deterministic behavior-cloning baseline, blocks nine adversarial reward attacks, and evaluates a label-free process-separated heldout split."
      },
      {
        "evidenceIds": [
          "E8_RL_LIVE_BLOCKED"
        ],
        "id": "C4_RL_LIVE_ROUTE",
        "limitations": [
          "The live baseline produced no candidate completions and therefore proves enforcement, not model quality."
        ],
        "scope": {
          "commit": "353d825767682eaacda989551270747a95bcffc4",
          "releaseLevel": "blocked"
        },
        "status": "observed",
        "text": "The preregistered Agentic RL live-model baseline failed closed when the Azure-only, zero-data-retention OpenRouter route returned HTTP 404; no retry, fallback, token usage, or cost was accepted."
      },
      {
        "evidenceIds": [
          "E12_FOUNDER_QUEST_PRODUCTION",
          "E13_FOUNDER_QUEST_RELEASE"
        ],
        "id": "C5_FOUNDER_QUEST_PRODUCT",
        "limitations": [
          "The journey is synthetic and read-only; no durable writes or remote Neo4j writes occur.",
          "The 15 hosted checks and four isolated browser contexts prove this bounded production journey, not government, bank, legal, tax, regulatory, or other external approval."
        ],
        "scope": {
          "appHash": "973ea7cbd8039e963bab1ff604bc0180bf0457f9a334b9b9dc0f77062f103e20",
          "artifactManifestHashesVerified": 25,
          "commit": "dc5fba2467576d5ded3d3ac6bf4d142316410c86",
          "configHash": "973ea7cbd8039e963bab1ff604bc0180bf0457f9a334b9b9dc0f77062f103e20",
          "evidenceCommit": "04579137a85f4ce18db61e6e7c0f25ff7b1d42b6",
          "graphRevision": "ng1_c9334138",
          "hostedChecksPassed": 15,
          "hostedDeploymentCertified": true,
          "isolatedBrowserContexts": 4,
          "productionReceiptDigest": "023154fb77698b8704932ccaa9a0736a252a6de8b1ea46da3f76675ffac9f49c",
          "productionUrl": "https://founder-quest-graph.vercel.app/",
          "releaseAuditIssues": 0,
          "releaseLevel": "production-certified",
          "releaseReady": true,
          "testsPassed": 18,
          "unifiedReleaseReceiptDigest": "3366a2466bfed64e07c70324babbb9d2eb369965e7e1930c9f00909b199bb5a5"
        },
        "status": "verified",
        "text": "Founder Quest Graph provides a read-only synthetic quest rail, bounded graph workspace, source-backed answer panel, and proof surface on an exact production revision that passed all 15 hosted checks."
      },
      {
        "evidenceIds": [
          "E9_ANTHROPIC_GRANT_SOURCE"
        ],
        "id": "C6_ANTHROPIC_GRANT_CASE",
        "limitations": [
          "NodeKit is not affiliated with or endorsed by Anthropic and has not received this grant."
        ],
        "scope": {
          "retrievedAt": "2026-07-20"
        },
        "status": "verified",
        "text": "NodeKit uses Anthropic's rare-disease research grants as an independent external scenario for mapping current research, novelty, execution, evaluation, and application readiness."
      },
      {
        "evidenceIds": [],
        "id": "C7_RECURSIVE_LAUNCH",
        "limitations": [
          "Past tense is prohibited until all artifact, publication, and public-URL receipts exist."
        ],
        "scope": {},
        "status": "planned",
        "text": "NodeKit directed the research, product proofs, editable deck, walkthrough video, and browser-assisted publication of this campaign."
      },
      {
        "evidenceIds": [
          "E10_GRAPH_OF_LOOPS_SOURCE"
        ],
        "id": "C8_GRAPH_OF_LOOPS_FRAME",
        "limitations": [
          "The loop and graph mechanics predate the current phrase; NodeKit claims an application of the framing, not ownership of the underlying architecture."
        ],
        "scope": {
          "retrievedAt": "2026-07-20"
        },
        "status": "verified",
        "text": "NodeKit applies Carlos E. Perez's graph-of-loops framing to a proof-carrying product workflow, with explicit attribution to Perez's essay and Peter Steinberger's originating prompt."
      },
      {
        "evidenceIds": [
          "E14_FOUNDER_QUEST_VIDEO_PROOF"
        ],
        "id": "C9_MEDIA_PROOF",
        "limitations": [
          "Both videos use silent AAC tracks and burned-in captions.",
          "The walkthrough proves one synthetic read-only production journey, not an external outcome or publication."
        ],
        "scope": {
          "campaignCommit": "7ca02bc3bb73b55ea5c9991276ca1c36268551f8",
          "technicalSha256": "d0e2d13ed29fc82d6528c988cd6afabf81d464c00d1a80857951377cc8d07e18",
          "verticalSha256": "4cd8e5c9e5ecfc3b93abaa3e9f8e60dd819c024e6ad147002637bd6e68b12ae3"
        },
        "status": "verified",
        "text": "NodeKit produced and verified an 83-second vertical walkthrough and a 180-second technical walkthrough from the exact Founder Quest production capture, with burned-in narrative text and content-addressed receipts."
      }
    ],
    "schemaVersion": "nodekit.claim-ledger/v1"
  },
  "limitations": {
    "limitations": [
      {
        "id": "L1_NPM_AUTH",
        "severity": "release-boundary",
        "text": "NodeKit v0.2.0 is distributed through its GitHub source release because npm authentication returned E401."
      },
      {
        "id": "L2_CASCA_LOCAL_ONLY",
        "severity": "release-boundary",
        "text": "The Casca FDE lab is local-ready and browser-proven on loopback, but not hosted or production-proven."
      },
      {
        "id": "L3_RL_SCOPE",
        "severity": "scientific-boundary",
        "text": "The Agentic RL lab currently implements behavior cloning and protected evaluation, not reinforcement-learning weight optimization."
      },
      {
        "id": "L4_RL_LIVE_BLOCKED",
        "severity": "provider-boundary",
        "text": "The preregistered Azure-only/ZDR live baseline received HTTP 404 and was not retried with a weaker privacy or routing policy."
      },
      {
        "id": "L5_FOUNDERQUEST_SYNTHETIC",
        "severity": "product-boundary",
        "text": "Founder Quest Graph uses a fictional California LLC in a read-only production journey. It performs no durable writes or remote Neo4j writes. Its receipts prove the bounded hosted workflow, never government, bank, insurance, payment-provider, legal, tax, regulatory, or other external approval."
      },
      {
        "id": "L6_NO_ANTHROPIC_AFFILIATION",
        "severity": "public-claim-boundary",
        "text": "The Anthropic grant is an independent external scenario; NodeKit is not affiliated with or endorsed by Anthropic and has not received the grant."
      },
      {
        "id": "L7_GRAPH_OF_LOOPS_ATTRIBUTION",
        "severity": "source-boundary",
        "text": "The public campaign attributes the graph-of-loops framing to Carlos E. Perez's essay and Peter Steinberger's originating prompt, while recognizing that directed graphs, state machines, and multi-agent orchestration predate the current terminology."
      }
    ],
    "schemaVersion": "nodekit.limitations/v1"
  }
}
Disclaimer: User supplied
[source_5137508453e4fbe272bad4a2a6cc649b] NodeKit evidence index
Citation: Uploaded file: NodeKit evidence index
{
  "evidence": [
    {
      "id": "E1_FACTORY_ACCEPTANCE",
      "kind": "receipt",
      "path": "proof/factory-acceptance.json",
      "receiptDigest": "3f792e0ddbf7cffe5173b543b96baf3c43a7c81567f746ebfbce1e2cebce9867",
      "scope": "node-platform@ef23bb0d630c265d21be5443138cd1a5b769ed8c",
      "sha256": "225b0506aecf2d7eee5925094fa7fa194793cf3bff3149784f49de246ca07566"
    },
    {
      "id": "E2_NODEKIT_RELEASE",
      "kind": "public-release",
      "scope": "v0.2.0",
      "url": "https://github.com/HomenShum/node-platform/releases/tag/v0.2.0"
    },
    {
      "externalPath": "../casca-fde-deployment-lab/proof/release-proof.json",
      "id": "E3_CASCA_RELEASE",
      "kind": "receipt",
      "scope": "casca-fde-deployment-lab@6c8d7d9f81810509240fe0b2352453bfa04ac924"
    },
    {
      "externalPath": "../casca-fde-deployment-lab/proof/browser-proof.json",
      "id": "E4_CASCA_BROWSER",
      "kind": "browser-proof",
      "scope": "local fresh browser"
    },
    {
      "externalPath": "../casca-fde-deployment-lab/proof/pi-live-receipt.json",
      "id": "E5_CASCA_LIVE",
      "kind": "live-provider-receipt",
      "scope": "OpenRouter openai/gpt-4o-mini; 36 tokens; $0.00000855"
    },
    {
      "externalPath": "../agentic-rl-research-lab/proof/release-proof.json",
      "id": "E6_RL_RELEASE",
      "kind": "receipt",
      "publicRelease": "https://github.com/HomenShum/agentic-rl-research-lab/releases/tag/v0.1.0-diagnostic-baselines",
      "scope": "local deterministic behavior-cloning baseline"
    },
    {
      "externalPath": "../agentic-rl-research-lab/proof/blind-heldout-receipt.json",
      "id": "E7_RL_HELDOUT",
      "kind": "benchmark-receipt",
      "scope": "two synthetic heldout tasks"
    },
    {
      "externalPath": "../agentic-rl-research-lab/proof/live-model-baseline-proof.json",
      "id": "E8_RL_LIVE_BLOCKED",
      "kind": "live-provider-blocked-receipt",
      "publicRelease": "https://github.com/HomenShum/agentic-rl-research-lab/releases/tag/v0.1.0-diagnostic-baselines",
      "receiptPath": "../agentic-rl-research-lab/proof/live-model-baseline-receipt.json",
      "receiptSha256": "b6bdb193deccd585a8e9e825484370ef152a8b50b3d21fa2242792bd24e84ea1",
      "scope": "Azure-only ZDR OpenRouter route; immutable failed attempt",
      "sha256": "d5dd74a0af019730e506bf2c923dfdb583accd287ad76ba0627b99d1978aa049"
    },
    {
      "id": "E9_ANTHROPIC_GRANT_SOURCE",
      "kind": "official-source",
      "scope": "retrieved 2026-07-20",
      "url": "https://www.anthropic.com/news/rare-disease-research-grants"
    },
    {
      "author": "Carlos E. Perez",
      "id": "E10_GRAPH_OF_LOOPS_SOURCE",
      "kind": "conceptual-source",
      "originPost": "https://x.com/steipete/status/2078277297791189132",
      "scope": "retrieved 2026-07-20; conceptual inspiration, not product evidence",
      "title": "From Loop Engineering to Graph Engineering?",
      "url": "https://medium.com/intuitionmachine/from-loop-engineering-to-graph-engineering-d3ebeb08511c"
    },
    {
      "id": "E11_RL_CI",
      "kind": "continuous-integration",
      "scope": "agentic-rl-research-lab@e1b114c486fbe26703688ab6481331659081b083; offline quality workflow passed",
      "url": "https://github.com/HomenShum/agentic-rl-research-lab/actions/runs/29799453044"
    },
    {
      "id": "E12_FOUNDER_QUEST_PRODUCTION",
      "kind": "production-browser-proof",
      "receiptDigest": "023154fb77698b8704932ccaa9a0736a252a6de8b1ea46da3f76675ffac9f49c",
      "scope": "founder-quest-graph@dc5fba2467576d5ded3d3ac6bf4d142316410c86; evidence 04579137a85f4ce18db61e6e7c0f25ff7b1d42b6; app/config 973ea7cbd8039e963bab1ff604bc0180bf0457f9a334b9b9dc0f77062f103e20; graph ng1_c9334138; 15/15 hosted checks; four isolated desktop/mobile light/dark contexts; zero browser, network, or cross-origin errors; synthetic read-only; no durable or remote Neo4j writes",
      "url": "https://founder-quest-graph.vercel.app/"
    },
    {
      "id": "E13_FOUNDER_QUEST_RELEASE",
      "kind": "public-release",
      "receiptDigest": "3366a2466bfed64e07c70324babbb9d2eb369965e7e1930c9f00909b199bb5a5",
      "scope": "v0.1.1-production-certified; releaseReady=true; hostedDeploymentCertified=true; 18/18 tests; 25/25 artifact-manifest hashes verified byte-for-byte in a fresh Windows worktree; final independent release re-audit found zero remaining issues",
      "url": "https://github.com/HomenShum/founder-quest-graph/releases/tag/v0.1.1-production-certified"
    },
    {
      "assets": [
        {
          "bytes": 9771396,
          "dimensions": "1080x1920",
          "durationSeconds": 83.050667,
          "path": "changes/nodekit-proof-campaign-2026-07-20/video/output/nodekit-founder-quest-vertical.mp4",
          "sha256": "4cd8e5c9e5ecfc3b93abaa3e9f8e60dd819c024e6ad147002637bd6e68b12ae3"
        },
        {
          "bytes": 23095701,
          "dimensions": "1920x1080",
          "durationSeconds": 180.053333,
          "path": "changes/nodekit-proof-campaign-2026-07-20/video/output/nodekit-founder-quest-technical.mp4",
          "sha256": "d0e2d13ed29fc82d6528c988cd6afabf81d464c00d1a80857951377cc8d07e18"
        }
      ],
      "id": "E14_FOUNDER_QUEST_VIDEO_PROOF",
      "kind": "media-proof",
      "path": "changes/nodekit-proof-campaign-2026-07-20/video/proof/founder-quest-video-receipt.json",
      "scope": "Feature Proof Studio @ 7aafb3e0a48f3c1e74e69a51d9df506186ea4340; exact Founder Quest deployment dpl_z1dRn48GFzZYuEyBq6oDNKPHdUHP; sampled encoded-frame visual QA passed",
      "sha256": "25f92d97dcadb31b4b8adee496adee076b0779552bf21cf5c2991f387ed0fb08",
      "visualQaPath": "changes/nodekit-proof-campaign-2026-07-20/video/proof/founder-quest-media-visual-qa.json",
      "visualQaSha256": "e4131e974a8b6b2ada07ea2c08ffad97364327a695bc44edaf95ba44ca3704f5"
    }
  ],
  "schemaVersion": "nodekit.evidence-index/v1"
}
Disclaimer: User supplied
[source_59b18beceb424163b737f072a159dd1f] NodeKit slide design plans
Citation: Uploaded file: NodeKit slide design plans
{
  "communicationJob": "By the end, a technical reviewer should understand what NodeKit now proves, which real product slices support the claim, and which artifact and publication gates remain open.",
  "schemaVersion": "nodeslide.design-plan/v1",
  "slides": [
    {
      "audienceQuestion": "What is NodeKit?",
      "body": "One manifest connects runtime, evaluation, browser QA, and proof.",
      "bullets": [
        "Two presets; one path",
        "Local run: 37.221 s",
        "GitHub source; npm blocked"
      ],
      "claimIds": [
        "C1_FACTORY_ACCEPTANCE"
      ],
      "density": "low",
      "dominantVisual": "One clean lifecycle from brief to public proof with receipt checkpoints.",
      "evidenceIds": [
        "E1_FACTORY_ACCEPTANCE",
        "E2_NODEKIT_RELEASE"
      ],
      "id": "S1",
      "job": "Open with the system's concrete promise.",
      "narrativeRole": "opening",
      "takeaway": "Empty directory. Proof-carrying application."
    },
    {
      "audienceQuestion": "What pain is this solving?",
      "body": "Parity breaks when benchmark, browser, deployment, and public claims follow different implementations.",
      "bullets": [
        "One implementation must serve every gate",
        "Receipts bind the exact revision",
        "Failed gates stay visible"
      ],
      "claimIds": [],
      "density": "medium",
      "dominantVisual": "Fragmented parallel paths collapsing into one compiled definition.",
      "evidenceIds": [],
      "id": "S2",
      "job": "Show why code generation alone is insufficient.",
      "narrativeRole": "stakes",
      "takeaway": "The hard part is keeping every proof gate on one execution path."
    },
    {
      "audienceQuestion": "Does the empty-directory path actually work?",
      "body": "From empty directories, NodeKit installed, compiled, ran, evaluated, benchmarked, and proof-checked both presets.",
      "bullets": [
        "Agentic RL preset: passed",
        "SMB lending FDE preset: passed",
        "Local benchmark, not production latency"
      ],
      "claimIds": [
        "C1_FACTORY_ACCEPTANCE"
      ],
      "density": "medium",
      "dominantVisual": "Two receipt cards joined to one factory-acceptance digest.",
      "evidenceIds": [
        "E1_FACTORY_ACCEPTANCE",
        "E2_NODEKIT_RELEASE"
      ],
      "id": "S3",
      "job": "Prove the factory rather than describe it.",
      "metric": {
        "label": "deterministic local factory acceptance",
        "value": "37.221 s"
      },
      "narrativeRole": "evidence",
      "takeaway": "Two presets passed the full factory path in 37.221 seconds."
    },
    {
      "audienceQuestion": "Can the system survive a real agentic product journey?",
      "body": "On commit 6c8d7d9, the synthetic lab passed deterministic, live-provider, browser, reload, export, and identity gates.",
      "bullets": [
        "One bounded live-provider call",
        "Fresh browser plus reload",
        "Deployment gate still open"
      ],
      "claimIds": [
        "C2_CASCA_LOCAL_PROOF"
      ],
      "density": "medium",
      "dominantVisual": "Product screenshot annotated with graph query, proposal, and receipt checkpoints.",
      "evidenceIds": [
        "E3_CASCA_RELEASE",
        "E4_CASCA_BROWSER",
        "E5_CASCA_LIVE"
      ],
      "formula": {
        "description": "Synthetic local workflow only; no automated credit decision.",
        "display": "query → proposal → approval → export",
        "expression": "query -&gt; proposal -&gt; approval -&gt; export"
      },
      "id": "S4",
      "job": "Show the consequential artifact vertical.",
      "narrativeRole": "case-study",
      "takeaway": "The Casca lab passed every local gate without making a credit decision."
    },
    {
      "audienceQuestion": "How does NodeKit approach Agentic RL responsibly?",
      "body": "The current baseline is behavior cloning, not RL. It passed protected local evaluation; the strict Azure-only live route failed closed with no fallback.",
      "bullets": [
        "Behavior cloning only",
        "Nine reward attacks blocked",
        "Azure/ZDR route: HTTP 404; no fallback"
      ],
      "chart": {
        "labels": [
          "reward attacks",
          "heldout tasks",
          "fallbacks"
        ],
        "unit": "count",
        "values": [
          9,
          2,
          0
        ]
      },
      "claimIds": [
        "C3_RL_LOCAL_BASELINE",
        "C4_RL_LIVE_ROUTE"
      ],
      "density": "high",
      "dominantVisual": "Trajectory to protected reward to shadow candidate flow, with behavior cloning labeled as the current stage.",
      "evidenceIds": [
        "E6_RL_RELEASE",
        "E7_RL_HELDOUT",
        "E8_RL_LIVE_BLOCKED",
        "E11_RL_CI"
      ],
      "id": "S5",
      "job": "Explain the research and learning boundary.",
      "metric": {
        "label": "adversarial reward attacks blocked",
        "value": "9"
      },
      "narrativeRole": "technical-decision",
      "takeaway": "Protect the scorer first; train only after its boundaries are credible."
    },
    {
      "audienceQuestion": "What does the graph make possible for a user?",
      "body": "Read-only Founder Quest connects quests, a bounded graph, sourced answers, authority boundaries, and proof in four isolated browser contexts.",
      "bullets": [
        "Source dc5fba2 · evidence 0457913",
        "App/config 973ea7cb · graph ng1_c9334138",
        "18 / 18 tests · 25 / 25 artifact hashes"
      ],
      "claimIds": [
        "C5_FOUNDER_QUEST_PRODUCT"
      ],
      "density": "medium",
      "dominantVisual": "Verified production Founder Quest view with quest rail, bounded graph, answer panel, and proof strip.",
      "evidenceIds": [
        "E12_FOUNDER_QUEST_PRODUCTION",
        "E13_FOUNDER_QUEST_RELEASE"
      ],
      "id": "S6",
      "job": "Introduce Founder Quest as the connected product surface.",
      "metric": {
        "label": "hosted checks passed; synthetic and read-only",
        "value": "15 / 15"
      },
      "narrativeRole": "product-reveal",
      "takeaway": "Founder Quest passed all 15 hosted checks on one exact production revision."
    },
    {
      "audienceQuestion": "How would a researcher use this today?",
      "body": "Anthropic's rare-disease grant is an independent forcing function for mapping research, novelty, evaluation, authority, and readiness, not an affiliation.",
      "bullets": [
        "Official grant announcement",
        "No affiliation or endorsement",
        "Research synthesis does not prove biology"
      ],
      "claimIds": [
        "C6_ANTHROPIC_GRANT_CASE"
      ],
      "density": "medium",
      "dominantVisual": "Disease-gene-phenotype-mechanism-paper-trial-hypothesis graph with source ledger.",
      "evidenceIds": [
        "E9_ANTHROPIC_GRANT_SOURCE"
      ],
      "formula": {
        "description": "Research synthesis informs an application; it does not prove biology.",
        "display": "source → claim → evaluation → application readiness",
        "expression": "source -&gt; claim -&gt; evaluation -&gt; application readiness"
      },
      "id": "S7",
      "job": "Connect the external rare-disease grant scenario.",
      "narrativeRole": "external-use-case",
      "takeaway": "A real grant scenario tests the graph without claiming biological proof."
    },
    {
      "audienceQuestion": "How do the pieces improve, and what should reviewers do next?",
      "body": "Research, build, evaluation, proof, presentation, and feedback can watch one another. Only external anchors close the graph.",
      "bullets": [
        "Researcher, builder, or operator",
        "Sources, commits, exports, and outcomes",
        "Inspect pass, fail, and human-review status"
      ],
      "claimIds": [
        "C8_GRAPH_OF_LOOPS_FRAME"
      ],
      "density": "low",
      "dominantVisual": "Loop graph with external reality anchors and three reviewer entry points.",
      "evidenceIds": [
        "E1_FACTORY_ACCEPTANCE",
        "E2_NODEKIT_RELEASE",
        "E4_CASCA_BROWSER",
        "E10_GRAPH_OF_LOOPS_SOURCE"
      ],
      "formula": {
        "description": "External sources, commits, artifacts, and observed outcomes close the loop.",
        "display": "research ↔ build ↔ evaluation ↔ proof",
        "expression": "research &lt;-&gt; build &lt;-&gt; evaluation &lt;-&gt; proof"
      },
      "id": "S8",
      "job": "Explain the graph of loops and close with a falsifiable invitation.",
      "narrativeRole": "synthesis",
      "takeaway": "Loops need external anchors. Bring one workflow and inspect the proof."
    }
  ]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8"/>
        </a:solidFill>
      </p:bgPr>
    </p:bg>
    <p:spTree>
      <p:nvGrpSpPr>
        <p:cNvPr id="1" name=""/>
        <p:cNvGrpSpPr/>
        <p:nvPr/>
      </p:nvGrpSpPr>
      <p:grpSpPr>
        <a:xfrm>
          <a:off x="0" y="0"/>
          <a:ext cx="0" cy="0"/>
          <a:chOff x="0" y="0"/>
          <a:chExt cx="0" cy="0"/>
        </a:xfrm>
      </p:grpSpPr>
      <p:sp>
        <p:nvSpPr>
          <p:cNvPr id="2" name="element_2353766b7264ee7bdb5bdc9aece79a23"/>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f10050eaf08105f3b088f488c3e6221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OPENING / 01</a:t>
            </a:r>
            <a:endParaRPr lang="en-US" sz="1500" dirty="0"/>
          </a:p>
        </p:txBody>
      </p:sp>
      <p:sp>
        <p:nvSpPr>
          <p:cNvPr id="4" name="element_08666292d034d20b5c786664ea01945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17242B"/>
                </a:solidFill>
                <a:latin typeface="Arial" pitchFamily="34" charset="0"/>
                <a:ea typeface="Arial" pitchFamily="34" charset="-122"/>
                <a:cs typeface="Arial" pitchFamily="34" charset="-120"/>
              </a:rPr>
              <a:t>Empty directory. Proof-carrying application.</a:t>
            </a:r>
            <a:endParaRPr lang="en-US" sz="4800" dirty="0"/>
          </a:p>
        </p:txBody>
      </p:sp>
      <p:sp>
        <p:nvSpPr>
          <p:cNvPr id="5" name="element_b852bc502111710e81b7fd6efb839485"/>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One manifest connects runtime, evaluation, browser QA, and proof.</a:t>
            </a:r>
            <a:endParaRPr lang="en-US" sz="1900" dirty="0"/>
          </a:p>
        </p:txBody>
      </p:sp>
      <p:sp>
        <p:nvSpPr>
          <p:cNvPr id="6" name="element_1080a8f0cb32a82edb683776773616be"/>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Two presets; one path</a:t>
            </a:r>
            <a:endParaRPr lang="en-US" sz="1600" dirty="0"/>
          </a:p>
        </p:txBody>
      </p:sp>
      <p:sp>
        <p:nvSpPr>
          <p:cNvPr id="7" name="element_1cfdb1efb89ed49d7e502333edc97fb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Local run: 37.221 s</a:t>
            </a:r>
            <a:endParaRPr lang="en-US" sz="1600" dirty="0"/>
          </a:p>
        </p:txBody>
      </p:sp>
      <p:sp>
        <p:nvSpPr>
          <p:cNvPr id="8" name="element_9f32d4c4a56cad7f61e936a63c3451f9"/>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17242B"/>
                </a:solidFill>
                <a:latin typeface="Arial" pitchFamily="34" charset="0"/>
                <a:ea typeface="Arial" pitchFamily="34" charset="-122"/>
                <a:cs typeface="Arial" pitchFamily="34" charset="-120"/>
              </a:rPr>
              <a:t>•  GitHub source; npm blocked</a:t>
            </a:r>
            <a:endParaRPr lang="en-US" sz="1600" dirty="0"/>
          </a:p>
        </p:txBody>
      </p:sp>
      <p:sp>
        <p:nvSpPr>
          <p:cNvPr id="9" name="element_adf06f28096ad78b30d958e009f6021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0" name="element_0f03ca6bd6169213f713a507b385e6c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element_ac4145dbd4fdc018000e2999fe5c59b6"/>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29ef38175abb49765690d237b3acb36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STAKES / 02</a:t>
            </a:r>
            <a:endParaRPr lang="en-US" sz="1500" dirty="0"/>
          </a:p>
        </p:txBody>
      </p:sp>
      <p:sp>
        <p:nvSpPr>
          <p:cNvPr id="4" name="element_627b9ceb6a195bced4dd9dc740de4d5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The hard part is keeping every proof gate on one execution path.</a:t>
            </a:r>
            <a:endParaRPr lang="en-US" sz="3800" dirty="0"/>
          </a:p>
        </p:txBody>
      </p:sp>
      <p:sp>
        <p:nvSpPr>
          <p:cNvPr id="5" name="element_86bc7cdfde4f27bae77c7ff721175c58"/>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Parity breaks when benchmark, browser, deployment, and public claims follow different implementations.</a:t>
            </a:r>
            <a:endParaRPr lang="en-US" sz="1900" dirty="0"/>
          </a:p>
        </p:txBody>
      </p:sp>
      <p:sp>
        <p:nvSpPr>
          <p:cNvPr id="6" name="element_15d3554a4029844201b3e167a8fbc133"/>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One implementation must serve every gate</a:t>
            </a:r>
            <a:endParaRPr lang="en-US" sz="1700" dirty="0"/>
          </a:p>
        </p:txBody>
      </p:sp>
      <p:sp>
        <p:nvSpPr>
          <p:cNvPr id="7" name="element_0f06cf0e1f33b6fd1d275dd2a46ab4f7"/>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Receipts bind the exact revision</a:t>
            </a:r>
            <a:endParaRPr lang="en-US" sz="1700" dirty="0"/>
          </a:p>
        </p:txBody>
      </p:sp>
      <p:sp>
        <p:nvSpPr>
          <p:cNvPr id="8" name="element_27d3209f7da53dfa7d39922285e46051"/>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Failed gates stay visible</a:t>
            </a:r>
            <a:endParaRPr lang="en-US" sz="1700" dirty="0"/>
          </a:p>
        </p:txBody>
      </p:sp>
      <p:sp>
        <p:nvSpPr>
          <p:cNvPr id="9" name="element_2e8b27f6277d1615787e84b456a60b6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0" name="element_56d08c738ab3d632b7a0c174a382b63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element_11993a4790cefefdbb8791acdbe5c16a"/>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e6862ea9deea0f6a27d159088fc6db9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EVIDENCE / 03</a:t>
            </a:r>
            <a:endParaRPr lang="en-US" sz="1500" dirty="0"/>
          </a:p>
        </p:txBody>
      </p:sp>
      <p:sp>
        <p:nvSpPr>
          <p:cNvPr id="4" name="element_f8394370c2f95aaae50bcc4427e7355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Two presets passed the full factory path in 37.221 seconds.</a:t>
            </a:r>
            <a:endParaRPr lang="en-US" sz="3800" dirty="0"/>
          </a:p>
        </p:txBody>
      </p:sp>
      <p:sp>
        <p:nvSpPr>
          <p:cNvPr id="5" name="element_ba2235136715e69a6f61800926c682a8"/>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From empty directories, NodeKit installed, compiled, ran, evaluated, benchmarked, and proof-checked both presets.</a:t>
            </a:r>
            <a:endParaRPr lang="en-US" sz="1900" dirty="0"/>
          </a:p>
        </p:txBody>
      </p:sp>
      <p:sp>
        <p:nvSpPr>
          <p:cNvPr id="6" name="element_1f2de5f2c88df9901e9e651d987dc04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Agentic RL preset: passed</a:t>
            </a:r>
            <a:endParaRPr lang="en-US" sz="1700" dirty="0"/>
          </a:p>
        </p:txBody>
      </p:sp>
      <p:sp>
        <p:nvSpPr>
          <p:cNvPr id="7" name="element_9fa5a687cf3820ee4cde98641fb34b1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SMB lending FDE preset: passed</a:t>
            </a:r>
            <a:endParaRPr lang="en-US" sz="1700" dirty="0"/>
          </a:p>
        </p:txBody>
      </p:sp>
      <p:sp>
        <p:nvSpPr>
          <p:cNvPr id="8" name="element_83465293695b1fa37a8fdbb612cf9643"/>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Local benchmark, not production latency</a:t>
            </a:r>
            <a:endParaRPr lang="en-US" sz="1700" dirty="0"/>
          </a:p>
        </p:txBody>
      </p:sp>
      <p:sp>
        <p:nvSpPr>
          <p:cNvPr id="9" name="element_ea3d8805ae384f37bf4911a0b71bf299"/>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15554E"/>
                </a:solidFill>
                <a:latin typeface="Courier New" pitchFamily="34" charset="0"/>
                <a:ea typeface="Courier New" pitchFamily="34" charset="-122"/>
                <a:cs typeface="Courier New" pitchFamily="34" charset="-120"/>
              </a:rPr>
              <a:t>37.221 s</a:t>
            </a:r>
            <a:endParaRPr lang="en-US" sz="5600" dirty="0"/>
          </a:p>
        </p:txBody>
      </p:sp>
      <p:sp>
        <p:nvSpPr>
          <p:cNvPr id="10" name="element_a29a96e86322caf1ad01bd4210d5db3f"/>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0727B"/>
                </a:solidFill>
                <a:latin typeface="Arial" pitchFamily="34" charset="0"/>
                <a:ea typeface="Arial" pitchFamily="34" charset="-122"/>
                <a:cs typeface="Arial" pitchFamily="34" charset="-120"/>
              </a:rPr>
              <a:t>deterministic local factory acceptance</a:t>
            </a:r>
            <a:endParaRPr lang="en-US" sz="1500" dirty="0"/>
          </a:p>
        </p:txBody>
      </p:sp>
      <p:sp>
        <p:nvSpPr>
          <p:cNvPr id="11" name="element_b74d2c94a0760efb99e06f8c5b1c511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2" name="element_bd243cee183a99b86a3af53649936c1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element_ce07d73e506dfb881c6427f2432697a3"/>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48c4131badb71ef2f80ebd0087179dc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CASE STUDY / 04</a:t>
            </a:r>
            <a:endParaRPr lang="en-US" sz="1500" dirty="0"/>
          </a:p>
        </p:txBody>
      </p:sp>
      <p:sp>
        <p:nvSpPr>
          <p:cNvPr id="4" name="element_90a4e2d6ed09f9ba6dd494993c6d723b"/>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The Casca lab passed every local gate without making a credit decision.</a:t>
            </a:r>
            <a:endParaRPr lang="en-US" sz="3800" dirty="0"/>
          </a:p>
        </p:txBody>
      </p:sp>
      <p:sp>
        <p:nvSpPr>
          <p:cNvPr id="5" name="element_03eb50d842f873e3e5040494eea1ced0"/>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On commit 6c8d7d9, the synthetic lab passed deterministic, live-provider, browser, reload, export, and identity gates.</a:t>
            </a:r>
            <a:endParaRPr lang="en-US" sz="1900" dirty="0"/>
          </a:p>
        </p:txBody>
      </p:sp>
      <p:sp>
        <p:nvSpPr>
          <p:cNvPr id="6" name="element_2ef3d8b3cb3ac52334226c56a07c2c7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One bounded live-provider call</a:t>
            </a:r>
            <a:endParaRPr lang="en-US" sz="1700" dirty="0"/>
          </a:p>
        </p:txBody>
      </p:sp>
      <p:sp>
        <p:nvSpPr>
          <p:cNvPr id="7" name="element_ee5079bac7af67e5abbb05e7d2efe591"/>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Fresh browser plus reload</a:t>
            </a:r>
            <a:endParaRPr lang="en-US" sz="1700" dirty="0"/>
          </a:p>
        </p:txBody>
      </p:sp>
      <p:sp>
        <p:nvSpPr>
          <p:cNvPr id="8" name="element_56c08de2b03f411a45252d85de31a3e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Deployment gate still open</a:t>
            </a:r>
            <a:endParaRPr lang="en-US" sz="1700" dirty="0"/>
          </a:p>
        </p:txBody>
      </p:sp>
      <p:sp>
        <p:nvSpPr>
          <p:cNvPr id="9" name="element_9b1035cd43eb9dab3b435e2bc696f727"/>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query → proposal → approval → export</a:t>
            </a:r>
            <a:endParaRPr lang="en-US" sz="3000" dirty="0"/>
          </a:p>
        </p:txBody>
      </p:sp>
      <p:sp>
        <p:nvSpPr>
          <p:cNvPr id="10" name="element_327595c9af25e400cfeeab8f7a9b442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1" name="element_32a4580ff93feaafd129af045d43ab9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element_441cef5852a9ff97d62d98ca8251c786"/>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22acb143fa0fdb6025fc2646ca56689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TECHNICAL DECISION / 05</a:t>
            </a:r>
            <a:endParaRPr lang="en-US" sz="1500" dirty="0"/>
          </a:p>
        </p:txBody>
      </p:sp>
      <p:sp>
        <p:nvSpPr>
          <p:cNvPr id="4" name="element_efddd7b25aac9dabc6fdfd71d47a14e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Protect the scorer first; train only after its boundaries are credible.</a:t>
            </a:r>
            <a:endParaRPr lang="en-US" sz="3800" dirty="0"/>
          </a:p>
        </p:txBody>
      </p:sp>
      <p:sp>
        <p:nvSpPr>
          <p:cNvPr id="5" name="element_f242858491cc10d52ec3ace76652c29b"/>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The current baseline is behavior cloning, not RL. It passed protected local evaluation; the strict Azure-only live route failed closed with no fallback.</a:t>
            </a:r>
            <a:endParaRPr lang="en-US" sz="1900" dirty="0"/>
          </a:p>
        </p:txBody>
      </p:sp>
      <p:sp>
        <p:nvSpPr>
          <p:cNvPr id="6" name="element_9beda235a4b243f53af53076e793021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Behavior cloning only</a:t>
            </a:r>
            <a:endParaRPr lang="en-US" sz="1700" dirty="0"/>
          </a:p>
        </p:txBody>
      </p:sp>
      <p:sp>
        <p:nvSpPr>
          <p:cNvPr id="7" name="element_a3a6effd3048bc41fa101a7acd83b99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Nine reward attacks blocked</a:t>
            </a:r>
            <a:endParaRPr lang="en-US" sz="1700" dirty="0"/>
          </a:p>
        </p:txBody>
      </p:sp>
      <p:sp>
        <p:nvSpPr>
          <p:cNvPr id="8" name="element_1ed44405172c9d8e0eb05a920b871e1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Azure/ZDR route: HTTP 404; no fallback</a:t>
            </a:r>
            <a:endParaRPr lang="en-US" sz="1700" dirty="0"/>
          </a:p>
        </p:txBody>
      </p:sp>
      <p:sp>
        <p:nvSpPr>
          <p:cNvPr id="9" name="element_ebea8c73573da899e7d162ba13ec131a"/>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15554E"/>
                </a:solidFill>
                <a:latin typeface="Courier New" pitchFamily="34" charset="0"/>
                <a:ea typeface="Courier New" pitchFamily="34" charset="-122"/>
                <a:cs typeface="Courier New" pitchFamily="34" charset="-120"/>
              </a:rPr>
              <a:t>9</a:t>
            </a:r>
            <a:endParaRPr lang="en-US" sz="4300" dirty="0"/>
          </a:p>
        </p:txBody>
      </p:sp>
      <p:sp>
        <p:nvSpPr>
          <p:cNvPr id="10" name="element_492759c40e9748ee5bd02eb398ca4700"/>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60727B"/>
                </a:solidFill>
                <a:latin typeface="Arial" pitchFamily="34" charset="0"/>
                <a:ea typeface="Arial" pitchFamily="34" charset="-122"/>
                <a:cs typeface="Arial" pitchFamily="34" charset="-120"/>
              </a:rPr>
              <a:t>adversarial reward attacks blocked</a:t>
            </a:r>
            <a:endParaRPr lang="en-US" sz="1500" dirty="0"/>
          </a:p>
        </p:txBody>
      </p:sp>
      <p:graphicFrame>
        <p:nvGraphicFramePr>
          <p:cNvPr id="11" name="element_5ae48df0f23c59879efde9168b92e567" descr=""/>
          <p:cNvGraphicFramePr/>
          <p:nvPr/>
        </p:nvGraphicFramePr>
        <p:xfrm>
          <a:off x="6461598" y="4800600"/>
          <a:ext cx="4754761" cy="1165860"/>
        </p:xfrm>
        <a:graphic xmlns:a="http://schemas.openxmlformats.org/drawingml/2006/main">
          <a:graphicData uri="http://schemas.openxmlformats.org/drawingml/2006/chart">
            <c:chart xmlns:c="http://schemas.openxmlformats.org/drawingml/2006/chart" r:id="rId1"/>
          </a:graphicData>
        </a:graphic>
      </p:graphicFrame>
      <p:sp>
        <p:nvSpPr>
          <p:cNvPr id="12" name="element_2d32dcd4a686b0eeadb4e3e1ef57317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3" name="element_71c28e6c7eadc3186b29261c123af0b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element_d819a12ac90735708c093d76976a9d44"/>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311ea078e96b6e93f136789f50e5d02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PRODUCT REVEAL / 06</a:t>
            </a:r>
            <a:endParaRPr lang="en-US" sz="1500" dirty="0"/>
          </a:p>
        </p:txBody>
      </p:sp>
      <p:sp>
        <p:nvSpPr>
          <p:cNvPr id="4" name="element_a2dbc9b09f7164bfff935aaef315c30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Founder Quest passed all 15 hosted checks on one exact production revision.</a:t>
            </a:r>
            <a:endParaRPr lang="en-US" sz="3800" dirty="0"/>
          </a:p>
        </p:txBody>
      </p:sp>
      <p:sp>
        <p:nvSpPr>
          <p:cNvPr id="5" name="element_79141630d779b09a58e0729a9395f45e"/>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Read-only Founder Quest connects quests, a bounded graph, sourced answers, authority boundaries, and proof in four isolated browser contexts.</a:t>
            </a:r>
            <a:endParaRPr lang="en-US" sz="1900" dirty="0"/>
          </a:p>
        </p:txBody>
      </p:sp>
      <p:sp>
        <p:nvSpPr>
          <p:cNvPr id="6" name="element_93e78132357c4529dbf931f0211ced92"/>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Source dc5fba2 · evidence 0457913</a:t>
            </a:r>
            <a:endParaRPr lang="en-US" sz="1700" dirty="0"/>
          </a:p>
        </p:txBody>
      </p:sp>
      <p:sp>
        <p:nvSpPr>
          <p:cNvPr id="7" name="element_aed3b360e380f07c949f06a2edb23c8c"/>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App/config 973ea7cb · graph ng1_c9334138</a:t>
            </a:r>
            <a:endParaRPr lang="en-US" sz="1700" dirty="0"/>
          </a:p>
        </p:txBody>
      </p:sp>
      <p:sp>
        <p:nvSpPr>
          <p:cNvPr id="8" name="element_38db63ea980ab8c44002d552e2a50808"/>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18 / 18 tests · 25 / 25 artifact hashes</a:t>
            </a:r>
            <a:endParaRPr lang="en-US" sz="1700" dirty="0"/>
          </a:p>
        </p:txBody>
      </p:sp>
      <p:pic>
        <p:nvPicPr>
          <p:cNvPr id="9" name="element_c5c18b1912be12123fb377ee9d25efb3 [static image fallback]" descr="Founder Quest verified read-only production product view">    </p:cNvPr>
          <p:cNvPicPr>
            <a:picLocks noChangeAspect="1"/>
          </p:cNvPicPr>
          <p:nvPr/>
        </p:nvPicPr>
        <p:blipFill>
          <a:blip r:embed="rId1"/>
          <a:stretch>
            <a:fillRect/>
          </a:stretch>
        </p:blipFill>
        <p:spPr>
          <a:xfrm>
            <a:off x="731502" y="2674620"/>
            <a:ext cx="4754761" cy="2606040"/>
          </a:xfrm>
          <a:prstGeom prst="rect">
            <a:avLst/>
          </a:prstGeom>
        </p:spPr>
      </p:pic>
      <p:sp>
        <p:nvSpPr>
          <p:cNvPr id="10" name="element_d0e06834070fe67afcd7f813975560fa"/>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60727B"/>
                </a:solidFill>
                <a:latin typeface="Arial" pitchFamily="34" charset="0"/>
                <a:ea typeface="Arial" pitchFamily="34" charset="-122"/>
                <a:cs typeface="Arial" pitchFamily="34" charset="-120"/>
              </a:rPr>
              <a:t>Production screenshot; verified scope remains synthetic and read-only.</a:t>
            </a:r>
            <a:endParaRPr lang="en-US" sz="1400" dirty="0"/>
          </a:p>
        </p:txBody>
      </p:sp>
      <p:sp>
        <p:nvSpPr>
          <p:cNvPr id="11" name="element_5ea62d3778782a772fa504dc394eabb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2" name="element_d80442e1b065aaf959a92a5348a5ddc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element_4c427d50d70e2878671ac7391fb8eae9"/>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344cc64204b82edbef41b98b9d6b3a2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EXTERNAL USE CASE / 07</a:t>
            </a:r>
            <a:endParaRPr lang="en-US" sz="1500" dirty="0"/>
          </a:p>
        </p:txBody>
      </p:sp>
      <p:sp>
        <p:nvSpPr>
          <p:cNvPr id="4" name="element_b95b8d1d34ad1d4447f17f26d9e381d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A real grant scenario tests the graph without claiming biological proof.</a:t>
            </a:r>
            <a:endParaRPr lang="en-US" sz="3800" dirty="0"/>
          </a:p>
        </p:txBody>
      </p:sp>
      <p:sp>
        <p:nvSpPr>
          <p:cNvPr id="5" name="element_b9145fccfc975fe4640cb691d4c97d0f"/>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Anthropic's rare-disease grant is an independent forcing function for mapping research, novelty, evaluation, authority, and readiness, not an affiliation.</a:t>
            </a:r>
            <a:endParaRPr lang="en-US" sz="1900" dirty="0"/>
          </a:p>
        </p:txBody>
      </p:sp>
      <p:sp>
        <p:nvSpPr>
          <p:cNvPr id="6" name="element_8d56a53dc9aaf9d739e3d34115bb6f1e"/>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Official grant announcement</a:t>
            </a:r>
            <a:endParaRPr lang="en-US" sz="1700" dirty="0"/>
          </a:p>
        </p:txBody>
      </p:sp>
      <p:sp>
        <p:nvSpPr>
          <p:cNvPr id="7" name="element_81fb879e277f0f1bd3cebd6093ae4a80"/>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No affiliation or endorsement</a:t>
            </a:r>
            <a:endParaRPr lang="en-US" sz="1700" dirty="0"/>
          </a:p>
        </p:txBody>
      </p:sp>
      <p:sp>
        <p:nvSpPr>
          <p:cNvPr id="8" name="element_019fc938330310aec0b95bb87bf8e8e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Research synthesis does not prove biology</a:t>
            </a:r>
            <a:endParaRPr lang="en-US" sz="1700" dirty="0"/>
          </a:p>
        </p:txBody>
      </p:sp>
      <p:sp>
        <p:nvSpPr>
          <p:cNvPr id="9" name="element_5471a325626183335f88fae06c0a01bb"/>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source → claim → evaluation → application readiness</a:t>
            </a:r>
            <a:endParaRPr lang="en-US" sz="3000" dirty="0"/>
          </a:p>
        </p:txBody>
      </p:sp>
      <p:sp>
        <p:nvSpPr>
          <p:cNvPr id="10" name="element_68f5fc0ba60515c2e376464e2aac49a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1" name="element_d0cedd0c0a045cab8898d86d49a6d4f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element_9340e0e93b211e48c60363c785e970da"/>
          <p:cNvSpPr/>
          <p:nvPr/>
        </p:nvSpPr>
        <p:spPr>
          <a:xfrm>
            <a:off x="426709" y="445770"/>
            <a:ext cx="121917" cy="5692140"/>
          </a:xfrm>
          <a:prstGeom prst="roundRect">
            <a:avLst/>
          </a:prstGeom>
          <a:solidFill>
            <a:srgbClr val="287A8D"/>
          </a:solidFill>
          <a:ln w="12700">
            <a:solidFill>
              <a:srgbClr val="FFFFFF">
                <a:alpha val="0"/>
              </a:srgbClr>
            </a:solidFill>
            <a:prstDash val="solid"/>
          </a:ln>
        </p:spPr>
      </p:sp>
      <p:sp>
        <p:nvSpPr>
          <p:cNvPr id="3" name="element_c13c517f476e3bfa4f0af6865bcdccd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287A8D"/>
                </a:solidFill>
                <a:latin typeface="Courier New" pitchFamily="34" charset="0"/>
                <a:ea typeface="Courier New" pitchFamily="34" charset="-122"/>
                <a:cs typeface="Courier New" pitchFamily="34" charset="-120"/>
              </a:rPr>
              <a:t>SYNTHESIS / 08</a:t>
            </a:r>
            <a:endParaRPr lang="en-US" sz="1500" dirty="0"/>
          </a:p>
        </p:txBody>
      </p:sp>
      <p:sp>
        <p:nvSpPr>
          <p:cNvPr id="4" name="element_a4fae4ac9cf1ce92b893d827155c221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17242B"/>
                </a:solidFill>
                <a:latin typeface="Arial" pitchFamily="34" charset="0"/>
                <a:ea typeface="Arial" pitchFamily="34" charset="-122"/>
                <a:cs typeface="Arial" pitchFamily="34" charset="-120"/>
              </a:rPr>
              <a:t>Loops need external anchors. Bring one workflow and inspect the proof.</a:t>
            </a:r>
            <a:endParaRPr lang="en-US" sz="3800" dirty="0"/>
          </a:p>
        </p:txBody>
      </p:sp>
      <p:sp>
        <p:nvSpPr>
          <p:cNvPr id="5" name="element_48ca75052099aae6039680230e7d8af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0727B"/>
                </a:solidFill>
                <a:latin typeface="Arial" pitchFamily="34" charset="0"/>
                <a:ea typeface="Arial" pitchFamily="34" charset="-122"/>
                <a:cs typeface="Arial" pitchFamily="34" charset="-120"/>
              </a:rPr>
              <a:t>Research, build, evaluation, proof, presentation, and feedback can watch one another. Only external anchors close the graph.</a:t>
            </a:r>
            <a:endParaRPr lang="en-US" sz="1900" dirty="0"/>
          </a:p>
        </p:txBody>
      </p:sp>
      <p:sp>
        <p:nvSpPr>
          <p:cNvPr id="6" name="element_a1ca5640e88c8f2f2cfea514886d21c4"/>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01  Researcher, builder, or operator</a:t>
            </a:r>
            <a:endParaRPr lang="en-US" sz="1700" dirty="0"/>
          </a:p>
        </p:txBody>
      </p:sp>
      <p:sp>
        <p:nvSpPr>
          <p:cNvPr id="7" name="element_f46d7381acf5fdb79fc2424b56adba2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02  Sources, commits, exports, and outcomes</a:t>
            </a:r>
            <a:endParaRPr lang="en-US" sz="1700" dirty="0"/>
          </a:p>
        </p:txBody>
      </p:sp>
      <p:sp>
        <p:nvSpPr>
          <p:cNvPr id="8" name="element_bd3c89612de07b02f5f35d4ac990bdab"/>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7242B"/>
                </a:solidFill>
                <a:latin typeface="Arial" pitchFamily="34" charset="0"/>
                <a:ea typeface="Arial" pitchFamily="34" charset="-122"/>
                <a:cs typeface="Arial" pitchFamily="34" charset="-120"/>
              </a:rPr>
              <a:t>03  Inspect pass, fail, and human-review status</a:t>
            </a:r>
            <a:endParaRPr lang="en-US" sz="1700" dirty="0"/>
          </a:p>
        </p:txBody>
      </p:sp>
      <p:sp>
        <p:nvSpPr>
          <p:cNvPr id="9" name="element_48ac23793e908070839a4dc17cd52235"/>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15554E"/>
                </a:solidFill>
                <a:latin typeface="Courier New" pitchFamily="34" charset="0"/>
                <a:ea typeface="Courier New" pitchFamily="34" charset="-122"/>
                <a:cs typeface="Courier New" pitchFamily="34" charset="-120"/>
              </a:rPr>
              <a:t>research ↔ build ↔ evaluation ↔ proof</a:t>
            </a:r>
            <a:endParaRPr lang="en-US" sz="3000" dirty="0"/>
          </a:p>
        </p:txBody>
      </p:sp>
      <p:sp>
        <p:nvSpPr>
          <p:cNvPr id="10" name="element_de5708ba0eba721d4a083cc108085a7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0727B"/>
                </a:solidFill>
                <a:latin typeface="Courier New" pitchFamily="34" charset="0"/>
                <a:ea typeface="Courier New" pitchFamily="34" charset="-122"/>
                <a:cs typeface="Courier New" pitchFamily="34" charset="-120"/>
              </a:rPr>
              <a:t>NODESLIDE  ·  SOURCE-AWARE  ·  EDITABLE</a:t>
            </a:r>
            <a:endParaRPr lang="en-US" sz="1000" dirty="0"/>
          </a:p>
        </p:txBody>
      </p:sp>
      <p:sp>
        <p:nvSpPr>
          <p:cNvPr id="11" name="element_2193ba4880cf411905fc4a2338641e0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287A8D"/>
                </a:solidFill>
                <a:latin typeface="Courier New" pitchFamily="34" charset="0"/>
                <a:ea typeface="Courier New" pitchFamily="34" charset="-122"/>
                <a:cs typeface="Courier New" pitchFamily="34" charset="-120"/>
              </a:rPr>
              <a:t>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ist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NodeKit launches NodeKit through proof-carrying product work</dc:title>
  <dc:subject>By the end, a technical reviewer should understand that NodeKit is a portable application contract and verification path, see exactly which product slices have passed which gates, and know where the remaining release boundaries are local, blocked, or pending publication. Media-ready and not yet published.</dc:subject>
  <dc:creator>NodeSlide</dc:creator>
  <cp:lastModifiedBy>NodeSlide</cp:lastModifiedBy>
  <cp:revision>1</cp:revision>
  <dcterms:created xsi:type="dcterms:W3CDTF">2026-07-20T00:00:00Z</dcterms:created>
  <dcterms:modified xsi:type="dcterms:W3CDTF">2026-07-20T00:00:00Z</dcterms:modified>
</cp:coreProperties>
</file>